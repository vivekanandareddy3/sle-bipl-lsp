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bipl-lsp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Editing BIPL, properly.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8580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language server that makes a tiny language feel like a real one.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3200400"/>
            <a:ext cx="6766560" cy="1874520"/>
          </a:xfrm>
          <a:prstGeom prst="roundRect">
            <a:avLst>
              <a:gd name="adj" fmla="val 2439"/>
            </a:avLst>
          </a:prstGeom>
          <a:solidFill>
            <a:srgbClr val="1B2028"/>
          </a:solidFill>
          <a:ln w="12700">
            <a:solidFill>
              <a:srgbClr val="2C3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" y="334213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55548" y="334213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83564" y="334213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289304" y="325526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factorialV1.bipl  —  softlang/yas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3816" y="3602736"/>
            <a:ext cx="6510528" cy="0"/>
          </a:xfrm>
          <a:prstGeom prst="line">
            <a:avLst/>
          </a:prstGeom>
          <a:noFill/>
          <a:ln w="9525">
            <a:solidFill>
              <a:srgbClr val="2C3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3621024"/>
            <a:ext cx="420624" cy="1399032"/>
          </a:xfrm>
          <a:prstGeom prst="rect">
            <a:avLst/>
          </a:prstGeom>
          <a:solidFill>
            <a:srgbClr val="161A20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730752"/>
            <a:ext cx="329184" cy="270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71016" y="3730752"/>
            <a:ext cx="5980176" cy="270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algn="l"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</a:t>
            </a:r>
            <a:pPr algn="l"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pPr algn="l"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x) {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" y="4001262"/>
            <a:ext cx="329184" cy="270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71016" y="4001262"/>
            <a:ext cx="5980176" cy="270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 = y </a:t>
            </a:r>
            <a:pPr algn="l"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i;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" y="4271772"/>
            <a:ext cx="329184" cy="270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71016" y="4271772"/>
            <a:ext cx="5980176" cy="270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642616" y="3936492"/>
            <a:ext cx="25603" cy="21084"/>
          </a:xfrm>
          <a:prstGeom prst="line">
            <a:avLst/>
          </a:prstGeom>
          <a:noFill/>
          <a:ln w="15875">
            <a:solidFill>
              <a:srgbClr val="4FA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2668219" y="3924794"/>
            <a:ext cx="25603" cy="32782"/>
          </a:xfrm>
          <a:prstGeom prst="line">
            <a:avLst/>
          </a:prstGeom>
          <a:noFill/>
          <a:ln w="15875">
            <a:solidFill>
              <a:srgbClr val="4FA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2693822" y="3921898"/>
            <a:ext cx="25603" cy="2897"/>
          </a:xfrm>
          <a:prstGeom prst="line">
            <a:avLst/>
          </a:prstGeom>
          <a:noFill/>
          <a:ln w="15875">
            <a:solidFill>
              <a:srgbClr val="4FA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19426" y="3921898"/>
            <a:ext cx="25603" cy="34389"/>
          </a:xfrm>
          <a:prstGeom prst="line">
            <a:avLst/>
          </a:prstGeom>
          <a:noFill/>
          <a:ln w="15875">
            <a:solidFill>
              <a:srgbClr val="4FA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3730752"/>
            <a:ext cx="3995928" cy="270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A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: int · inferred program input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D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Vivekananda Reddy Godala</a:t>
            </a:r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SLE Assignment 3 · Option LSP.2 · Prof. Ralf Lämmel · 2026-07-13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55280" y="342900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4E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claim: 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7D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five statements hide two real language problems.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language: BIPL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04088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trivial imperative programming language … a small fragment of C.”  — softlang/yas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623560" cy="4160520"/>
          </a:xfrm>
          <a:prstGeom prst="roundRect">
            <a:avLst>
              <a:gd name="adj" fmla="val 1099"/>
            </a:avLst>
          </a:prstGeom>
          <a:solidFill>
            <a:srgbClr val="1B2028"/>
          </a:solidFill>
          <a:ln w="12700">
            <a:solidFill>
              <a:srgbClr val="2C3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7532" y="183337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5548" y="183337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83564" y="183337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289304" y="174650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division.bipl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13816" y="2093976"/>
            <a:ext cx="5367528" cy="0"/>
          </a:xfrm>
          <a:prstGeom prst="line">
            <a:avLst/>
          </a:prstGeom>
          <a:noFill/>
          <a:ln w="9525">
            <a:solidFill>
              <a:srgbClr val="2C3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112264"/>
            <a:ext cx="420624" cy="3685032"/>
          </a:xfrm>
          <a:prstGeom prst="rect">
            <a:avLst/>
          </a:prstGeom>
          <a:solidFill>
            <a:srgbClr val="161A20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221992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71016" y="2221992"/>
            <a:ext cx="4837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Euclidean division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" y="2505456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71016" y="2505456"/>
            <a:ext cx="4837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2788920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71016" y="2788920"/>
            <a:ext cx="4837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 = 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3072384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71016" y="3072384"/>
            <a:ext cx="4837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 = x;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" y="3355848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71016" y="3355848"/>
            <a:ext cx="4837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y) {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" y="3639312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71016" y="3639312"/>
            <a:ext cx="4837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r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" y="3922776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71016" y="3922776"/>
            <a:ext cx="4837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q 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" y="4206240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71016" y="4206240"/>
            <a:ext cx="4837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" y="4489704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71016" y="4489704"/>
            <a:ext cx="4837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2084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facts make it interesting to tool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720840" y="2505456"/>
            <a:ext cx="0" cy="786384"/>
          </a:xfrm>
          <a:prstGeom prst="line">
            <a:avLst/>
          </a:prstGeom>
          <a:noFill/>
          <a:ln w="31750">
            <a:solidFill>
              <a:srgbClr val="569C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24688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declarations.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never write int x. The editor must infer every type — nobody states it.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720840" y="3602736"/>
            <a:ext cx="0" cy="786384"/>
          </a:xfrm>
          <a:prstGeom prst="line">
            <a:avLst/>
          </a:prstGeom>
          <a:noFill/>
          <a:ln w="31750">
            <a:solidFill>
              <a:srgbClr val="4EC9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35661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boolean literals.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true / false keyword. Booleans exist only as results of comparisons and &amp;&amp; || !.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720840" y="4700016"/>
            <a:ext cx="0" cy="786384"/>
          </a:xfrm>
          <a:prstGeom prst="line">
            <a:avLst/>
          </a:prstGeom>
          <a:noFill/>
          <a:ln w="31750">
            <a:solidFill>
              <a:srgbClr val="4FA6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466344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live in the store.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input statement — a program just reads variables already in memory. That is why samples read x without assigning it.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didn't invent an architecture — I instantiated the lecture's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0408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“Editors own the UI; servers own the language knowledge.”  — LSP lecture (softlang/yas, FSML)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200400" cy="1828800"/>
          </a:xfrm>
          <a:prstGeom prst="roundRect">
            <a:avLst>
              <a:gd name="adj" fmla="val 2500"/>
            </a:avLst>
          </a:prstGeom>
          <a:solidFill>
            <a:srgbClr val="1B2028"/>
          </a:solidFill>
          <a:ln w="12700">
            <a:solidFill>
              <a:srgbClr val="2C3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7532" y="206197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5548" y="206197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83564" y="206197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289304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app.bipl — VS Code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13816" y="2322576"/>
            <a:ext cx="2944368" cy="0"/>
          </a:xfrm>
          <a:prstGeom prst="line">
            <a:avLst/>
          </a:prstGeom>
          <a:noFill/>
          <a:ln w="9525">
            <a:solidFill>
              <a:srgbClr val="2C3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340864"/>
            <a:ext cx="420624" cy="1353312"/>
          </a:xfrm>
          <a:prstGeom prst="rect">
            <a:avLst/>
          </a:prstGeom>
          <a:solidFill>
            <a:srgbClr val="161A20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45059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71016" y="245059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</a:t>
            </a:r>
            <a:pPr algn="l" indent="0" marL="0">
              <a:buNone/>
            </a:pPr>
            <a:r>
              <a:rPr lang="en-US" sz="12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" y="272491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71016" y="272491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x 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 ·  ~30 lines 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77640" y="2514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JSON-RPC / stdio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77640" y="2834640"/>
            <a:ext cx="1600200" cy="0"/>
          </a:xfrm>
          <a:prstGeom prst="line">
            <a:avLst/>
          </a:prstGeom>
          <a:noFill/>
          <a:ln w="25400">
            <a:solidFill>
              <a:srgbClr val="8A94A3"/>
            </a:solidFill>
            <a:prstDash val="solid"/>
            <a:headEnd type="arrow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669280" y="21488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20262F"/>
          </a:solidFill>
          <a:ln w="15875">
            <a:solidFill>
              <a:srgbClr val="4EC9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2860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bipl-lsp
</a:t>
            </a:r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pygls
</a:t>
            </a:r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stack as the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FSML lecture demo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92440" y="2834640"/>
            <a:ext cx="548640" cy="0"/>
          </a:xfrm>
          <a:prstGeom prst="line">
            <a:avLst/>
          </a:prstGeom>
          <a:noFill/>
          <a:ln w="25400">
            <a:solidFill>
              <a:srgbClr val="8A94A3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8732520" y="1828800"/>
            <a:ext cx="2788920" cy="2011680"/>
          </a:xfrm>
          <a:prstGeom prst="roundRect">
            <a:avLst>
              <a:gd name="adj" fmla="val 3636"/>
            </a:avLst>
          </a:prstGeom>
          <a:solidFill>
            <a:srgbClr val="1B2028"/>
          </a:solidFill>
          <a:ln w="12700">
            <a:solidFill>
              <a:srgbClr val="2C3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19659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analyze(text)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961120" y="2468880"/>
            <a:ext cx="91440" cy="91440"/>
          </a:xfrm>
          <a:prstGeom prst="ellipse">
            <a:avLst/>
          </a:prstGeom>
          <a:solidFill>
            <a:srgbClr val="569CD6"/>
          </a:solidFill>
          <a:ln/>
        </p:spPr>
      </p:sp>
      <p:sp>
        <p:nvSpPr>
          <p:cNvPr id="24" name="Text 22"/>
          <p:cNvSpPr/>
          <p:nvPr/>
        </p:nvSpPr>
        <p:spPr>
          <a:xfrm>
            <a:off x="9189720" y="2377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961120" y="2852928"/>
            <a:ext cx="91440" cy="91440"/>
          </a:xfrm>
          <a:prstGeom prst="ellipse">
            <a:avLst/>
          </a:prstGeom>
          <a:solidFill>
            <a:srgbClr val="F14C4C"/>
          </a:solidFill>
          <a:ln/>
        </p:spPr>
      </p:sp>
      <p:sp>
        <p:nvSpPr>
          <p:cNvPr id="26" name="Text 24"/>
          <p:cNvSpPr/>
          <p:nvPr/>
        </p:nvSpPr>
        <p:spPr>
          <a:xfrm>
            <a:off x="9189720" y="27614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diagnostics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961120" y="3236976"/>
            <a:ext cx="91440" cy="9144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28" name="Text 26"/>
          <p:cNvSpPr/>
          <p:nvPr/>
        </p:nvSpPr>
        <p:spPr>
          <a:xfrm>
            <a:off x="9189720" y="31455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 table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5800" y="4709160"/>
            <a:ext cx="10835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pure function does the thinking.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Hover, definition, rename, completion, and the outline are all just cheap queries on its result — cached per document version, exactly as the lecture's sequence diagram shows.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squiggles come from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Type checking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04088" y="162763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variable's type comes from its first assignment; a constrained use pins an input's type.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257800" cy="1600200"/>
          </a:xfrm>
          <a:prstGeom prst="roundRect">
            <a:avLst>
              <a:gd name="adj" fmla="val 2857"/>
            </a:avLst>
          </a:prstGeom>
          <a:solidFill>
            <a:srgbClr val="1B2028"/>
          </a:solidFill>
          <a:ln w="12700">
            <a:solidFill>
              <a:srgbClr val="2C3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" y="242773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55548" y="242773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83564" y="242773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289304" y="234086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types.bipl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3816" y="2688336"/>
            <a:ext cx="5001768" cy="0"/>
          </a:xfrm>
          <a:prstGeom prst="line">
            <a:avLst/>
          </a:prstGeom>
          <a:noFill/>
          <a:ln w="9525">
            <a:solidFill>
              <a:srgbClr val="2C3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706624"/>
            <a:ext cx="420624" cy="1124712"/>
          </a:xfrm>
          <a:prstGeom prst="rect">
            <a:avLst/>
          </a:prstGeom>
          <a:solidFill>
            <a:srgbClr val="161A20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81635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71016" y="2816352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" y="312724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71016" y="3127248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682496" y="3312414"/>
            <a:ext cx="25603" cy="21084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708099" y="3300716"/>
            <a:ext cx="25603" cy="32782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733702" y="3297820"/>
            <a:ext cx="25603" cy="2897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59306" y="3297820"/>
            <a:ext cx="25603" cy="34389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784909" y="3316026"/>
            <a:ext cx="25603" cy="16183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810512" y="3290615"/>
            <a:ext cx="25603" cy="25411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36115" y="3290615"/>
            <a:ext cx="25603" cy="30281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1718" y="3320896"/>
            <a:ext cx="25603" cy="8611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887322" y="3294449"/>
            <a:ext cx="25603" cy="35058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12925" y="3294449"/>
            <a:ext cx="25603" cy="10839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38528" y="3305288"/>
            <a:ext cx="25603" cy="29044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964131" y="3307379"/>
            <a:ext cx="25603" cy="26953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989734" y="3293289"/>
            <a:ext cx="25603" cy="14090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5338" y="3293289"/>
            <a:ext cx="25603" cy="34771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2040941" y="3322859"/>
            <a:ext cx="25603" cy="5201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2066544" y="3290973"/>
            <a:ext cx="25603" cy="31886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92147" y="3290973"/>
            <a:ext cx="25603" cy="22891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17750" y="3313864"/>
            <a:ext cx="25603" cy="19185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2143354" y="3299515"/>
            <a:ext cx="25603" cy="33535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2168957" y="3298935"/>
            <a:ext cx="25603" cy="580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05456" y="3127248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14C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can't become bool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85800" y="416052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1B2028"/>
          </a:solidFill>
          <a:ln w="12700">
            <a:solidFill>
              <a:srgbClr val="2C33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7532" y="43022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9" name="Shape 37"/>
          <p:cNvSpPr/>
          <p:nvPr/>
        </p:nvSpPr>
        <p:spPr>
          <a:xfrm>
            <a:off x="955548" y="43022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0" name="Shape 38"/>
          <p:cNvSpPr/>
          <p:nvPr/>
        </p:nvSpPr>
        <p:spPr>
          <a:xfrm>
            <a:off x="1083564" y="43022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41" name="Text 39"/>
          <p:cNvSpPr/>
          <p:nvPr/>
        </p:nvSpPr>
        <p:spPr>
          <a:xfrm>
            <a:off x="1289304" y="42153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infer.bipl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13816" y="4562856"/>
            <a:ext cx="5001768" cy="0"/>
          </a:xfrm>
          <a:prstGeom prst="line">
            <a:avLst/>
          </a:prstGeom>
          <a:noFill/>
          <a:ln w="9525">
            <a:solidFill>
              <a:srgbClr val="2C33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3232" y="4581144"/>
            <a:ext cx="420624" cy="941832"/>
          </a:xfrm>
          <a:prstGeom prst="rect">
            <a:avLst/>
          </a:prstGeom>
          <a:solidFill>
            <a:srgbClr val="161A20"/>
          </a:solidFill>
          <a:ln/>
        </p:spPr>
      </p:sp>
      <p:sp>
        <p:nvSpPr>
          <p:cNvPr id="44" name="Text 42"/>
          <p:cNvSpPr/>
          <p:nvPr/>
        </p:nvSpPr>
        <p:spPr>
          <a:xfrm>
            <a:off x="713232" y="469087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271016" y="4690872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x)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2505456" y="4876038"/>
            <a:ext cx="25603" cy="21084"/>
          </a:xfrm>
          <a:prstGeom prst="line">
            <a:avLst/>
          </a:prstGeom>
          <a:noFill/>
          <a:ln w="15875">
            <a:solidFill>
              <a:srgbClr val="4FA6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2531059" y="4864340"/>
            <a:ext cx="25603" cy="32782"/>
          </a:xfrm>
          <a:prstGeom prst="line">
            <a:avLst/>
          </a:prstGeom>
          <a:noFill/>
          <a:ln w="15875">
            <a:solidFill>
              <a:srgbClr val="4FA6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2556662" y="4861444"/>
            <a:ext cx="25603" cy="2897"/>
          </a:xfrm>
          <a:prstGeom prst="line">
            <a:avLst/>
          </a:prstGeom>
          <a:noFill/>
          <a:ln w="15875">
            <a:solidFill>
              <a:srgbClr val="4FA6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82266" y="4861444"/>
            <a:ext cx="25603" cy="34389"/>
          </a:xfrm>
          <a:prstGeom prst="line">
            <a:avLst/>
          </a:prstGeom>
          <a:noFill/>
          <a:ln w="15875">
            <a:solidFill>
              <a:srgbClr val="4FA6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16936" y="4690872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FA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: int (inferred)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309360" y="1234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9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— Definite assignment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327648" y="162763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 is safe only if assigned on every path. An if needs both branches; a while body may run zero times.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6309360" y="2286000"/>
            <a:ext cx="5212080" cy="1874520"/>
          </a:xfrm>
          <a:prstGeom prst="roundRect">
            <a:avLst>
              <a:gd name="adj" fmla="val 2439"/>
            </a:avLst>
          </a:prstGeom>
          <a:solidFill>
            <a:srgbClr val="1B2028"/>
          </a:solidFill>
          <a:ln w="12700">
            <a:solidFill>
              <a:srgbClr val="2C33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51092" y="242773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5" name="Shape 53"/>
          <p:cNvSpPr/>
          <p:nvPr/>
        </p:nvSpPr>
        <p:spPr>
          <a:xfrm>
            <a:off x="6579108" y="242773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56" name="Shape 54"/>
          <p:cNvSpPr/>
          <p:nvPr/>
        </p:nvSpPr>
        <p:spPr>
          <a:xfrm>
            <a:off x="6707124" y="242773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57" name="Text 55"/>
          <p:cNvSpPr/>
          <p:nvPr/>
        </p:nvSpPr>
        <p:spPr>
          <a:xfrm>
            <a:off x="6912864" y="23408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flow.bipl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437376" y="2688336"/>
            <a:ext cx="4956048" cy="0"/>
          </a:xfrm>
          <a:prstGeom prst="line">
            <a:avLst/>
          </a:prstGeom>
          <a:noFill/>
          <a:ln w="9525">
            <a:solidFill>
              <a:srgbClr val="2C33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36792" y="2706624"/>
            <a:ext cx="420624" cy="1399032"/>
          </a:xfrm>
          <a:prstGeom prst="rect">
            <a:avLst/>
          </a:prstGeom>
          <a:solidFill>
            <a:srgbClr val="161A20"/>
          </a:solidFill>
          <a:ln/>
        </p:spPr>
      </p:sp>
      <p:sp>
        <p:nvSpPr>
          <p:cNvPr id="60" name="Text 58"/>
          <p:cNvSpPr/>
          <p:nvPr/>
        </p:nvSpPr>
        <p:spPr>
          <a:xfrm>
            <a:off x="6336792" y="2816352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894576" y="2816352"/>
            <a:ext cx="4425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(c) y =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62" name="Text 60"/>
          <p:cNvSpPr/>
          <p:nvPr/>
        </p:nvSpPr>
        <p:spPr>
          <a:xfrm>
            <a:off x="6336792" y="3081528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894576" y="3081528"/>
            <a:ext cx="4425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y;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6336792" y="3346704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894576" y="3346704"/>
            <a:ext cx="4425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6336792" y="3611880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894576" y="3611880"/>
            <a:ext cx="4425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(c) v =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68" name="Text 66"/>
          <p:cNvSpPr/>
          <p:nvPr/>
        </p:nvSpPr>
        <p:spPr>
          <a:xfrm>
            <a:off x="6336792" y="3877056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6894576" y="3877056"/>
            <a:ext cx="4425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= v;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7306056" y="3266694"/>
            <a:ext cx="25603" cy="21084"/>
          </a:xfrm>
          <a:prstGeom prst="line">
            <a:avLst/>
          </a:prstGeom>
          <a:noFill/>
          <a:ln w="15875">
            <a:solidFill>
              <a:srgbClr val="E5B56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7331659" y="3254996"/>
            <a:ext cx="25603" cy="32782"/>
          </a:xfrm>
          <a:prstGeom prst="line">
            <a:avLst/>
          </a:prstGeom>
          <a:noFill/>
          <a:ln w="15875">
            <a:solidFill>
              <a:srgbClr val="E5B56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7357262" y="3252100"/>
            <a:ext cx="25603" cy="2897"/>
          </a:xfrm>
          <a:prstGeom prst="line">
            <a:avLst/>
          </a:prstGeom>
          <a:noFill/>
          <a:ln w="15875">
            <a:solidFill>
              <a:srgbClr val="E5B56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382866" y="3252100"/>
            <a:ext cx="25603" cy="34389"/>
          </a:xfrm>
          <a:prstGeom prst="line">
            <a:avLst/>
          </a:prstGeom>
          <a:noFill/>
          <a:ln w="15875">
            <a:solidFill>
              <a:srgbClr val="E5B56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17536" y="3081528"/>
            <a:ext cx="3675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maybe uninitialized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7306056" y="4062222"/>
            <a:ext cx="25603" cy="21084"/>
          </a:xfrm>
          <a:prstGeom prst="line">
            <a:avLst/>
          </a:prstGeom>
          <a:noFill/>
          <a:ln w="15875">
            <a:solidFill>
              <a:srgbClr val="E5B56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7331659" y="4050524"/>
            <a:ext cx="25603" cy="32782"/>
          </a:xfrm>
          <a:prstGeom prst="line">
            <a:avLst/>
          </a:prstGeom>
          <a:noFill/>
          <a:ln w="15875">
            <a:solidFill>
              <a:srgbClr val="E5B56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7357262" y="4047628"/>
            <a:ext cx="25603" cy="2897"/>
          </a:xfrm>
          <a:prstGeom prst="line">
            <a:avLst/>
          </a:prstGeom>
          <a:noFill/>
          <a:ln w="15875">
            <a:solidFill>
              <a:srgbClr val="E5B56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382866" y="4047628"/>
            <a:ext cx="25603" cy="34389"/>
          </a:xfrm>
          <a:prstGeom prst="line">
            <a:avLst/>
          </a:prstGeom>
          <a:noFill/>
          <a:ln w="15875">
            <a:solidFill>
              <a:srgbClr val="E5B56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717536" y="3877056"/>
            <a:ext cx="3675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maybe uninitialized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6309360" y="434340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book's terms (Ch. 9):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7D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checker implements the BIPL judgments  m ⊢ e : T  and  m ⊢ s  over a context of variable-type pairs — and completes the operator set the YAS Haskell checker left as “TODO”.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unassigned read is a bug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7D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BIPL reads its inputs from the store. So a naive “read-before-write = error” rule would flag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factorialV1.bipl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7D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 official sample — as broken.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language would reject its own textbook.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7680960" cy="2788920"/>
          </a:xfrm>
          <a:prstGeom prst="roundRect">
            <a:avLst>
              <a:gd name="adj" fmla="val 1639"/>
            </a:avLst>
          </a:prstGeom>
          <a:solidFill>
            <a:srgbClr val="1B2028"/>
          </a:solidFill>
          <a:ln w="12700">
            <a:solidFill>
              <a:srgbClr val="2C3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865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752344"/>
            <a:ext cx="7406640" cy="0"/>
          </a:xfrm>
          <a:prstGeom prst="line">
            <a:avLst/>
          </a:prstGeom>
          <a:noFill/>
          <a:ln w="9525">
            <a:solidFill>
              <a:srgbClr val="2C3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14C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44168" y="29535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4C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88920" y="2953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type-error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322783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D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must be boolean; a variable can't change type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41832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B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4416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B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8892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maybe-uninitialized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3886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D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somewhere, but not on every path to this read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418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F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44168" y="42702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88920" y="4270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input-variable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45445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D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assigned anywhere → a program input; this is fine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0" y="2514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4E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12/12</a:t>
            </a:r>
            <a:endParaRPr lang="en-US" sz="6600" dirty="0"/>
          </a:p>
        </p:txBody>
      </p:sp>
      <p:sp>
        <p:nvSpPr>
          <p:cNvPr id="20" name="Text 18"/>
          <p:cNvSpPr/>
          <p:nvPr/>
        </p:nvSpPr>
        <p:spPr>
          <a:xfrm>
            <a:off x="8686800" y="3520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7D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YAS samples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7D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with zero errors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0" y="4343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a test locks it in,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it can never regress.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5257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E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Respecting the language's own semantics — instead of imposing a naive rule — is what makes the server “interesting.”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analysis, every feature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04088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feature has its own parser. Each is a query on the same analyze() result.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94476" y="1965960"/>
            <a:ext cx="0" cy="4023360"/>
          </a:xfrm>
          <a:prstGeom prst="line">
            <a:avLst/>
          </a:prstGeom>
          <a:noFill/>
          <a:ln w="25400">
            <a:solidFill>
              <a:srgbClr val="4EC9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77156" y="155448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20262F"/>
          </a:solidFill>
          <a:ln w="15875">
            <a:solidFill>
              <a:srgbClr val="4EC9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77156" y="15727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analyze(text)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2587752"/>
            <a:ext cx="1751076" cy="0"/>
          </a:xfrm>
          <a:prstGeom prst="line">
            <a:avLst/>
          </a:prstGeom>
          <a:noFill/>
          <a:ln w="12700">
            <a:solidFill>
              <a:srgbClr val="2C33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53328" y="2546604"/>
            <a:ext cx="82296" cy="82296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31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publishDiagnostics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3502152"/>
            <a:ext cx="1751076" cy="0"/>
          </a:xfrm>
          <a:prstGeom prst="line">
            <a:avLst/>
          </a:prstGeom>
          <a:noFill/>
          <a:ln w="12700">
            <a:solidFill>
              <a:srgbClr val="2C3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53328" y="3461004"/>
            <a:ext cx="82296" cy="82296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46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textDocument/hover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4416552"/>
            <a:ext cx="1751076" cy="0"/>
          </a:xfrm>
          <a:prstGeom prst="line">
            <a:avLst/>
          </a:prstGeom>
          <a:noFill/>
          <a:ln w="12700">
            <a:solidFill>
              <a:srgbClr val="2C33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53328" y="4375404"/>
            <a:ext cx="82296" cy="82296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60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definition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textDocument/definition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43400" y="5330952"/>
            <a:ext cx="1751076" cy="0"/>
          </a:xfrm>
          <a:prstGeom prst="line">
            <a:avLst/>
          </a:prstGeom>
          <a:noFill/>
          <a:ln w="12700">
            <a:solidFill>
              <a:srgbClr val="2C33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53328" y="5289804"/>
            <a:ext cx="82296" cy="82296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074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references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5349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textDocument/references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94476" y="2587752"/>
            <a:ext cx="1723644" cy="0"/>
          </a:xfrm>
          <a:prstGeom prst="line">
            <a:avLst/>
          </a:prstGeom>
          <a:noFill/>
          <a:ln w="12700">
            <a:solidFill>
              <a:srgbClr val="2C33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53328" y="2546604"/>
            <a:ext cx="82296" cy="82296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25" name="Text 23"/>
          <p:cNvSpPr/>
          <p:nvPr/>
        </p:nvSpPr>
        <p:spPr>
          <a:xfrm>
            <a:off x="7909560" y="2331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909560" y="2606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textDocument/rename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94476" y="3502152"/>
            <a:ext cx="1723644" cy="0"/>
          </a:xfrm>
          <a:prstGeom prst="line">
            <a:avLst/>
          </a:prstGeom>
          <a:noFill/>
          <a:ln w="12700">
            <a:solidFill>
              <a:srgbClr val="2C33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53328" y="3461004"/>
            <a:ext cx="82296" cy="82296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29" name="Text 27"/>
          <p:cNvSpPr/>
          <p:nvPr/>
        </p:nvSpPr>
        <p:spPr>
          <a:xfrm>
            <a:off x="7909560" y="3246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90956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textDocument/completion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94476" y="4416552"/>
            <a:ext cx="1723644" cy="0"/>
          </a:xfrm>
          <a:prstGeom prst="line">
            <a:avLst/>
          </a:prstGeom>
          <a:noFill/>
          <a:ln w="12700">
            <a:solidFill>
              <a:srgbClr val="2C33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53328" y="4375404"/>
            <a:ext cx="82296" cy="82296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33" name="Text 31"/>
          <p:cNvSpPr/>
          <p:nvPr/>
        </p:nvSpPr>
        <p:spPr>
          <a:xfrm>
            <a:off x="7909560" y="4160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909560" y="4434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documentSymbol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94476" y="5330952"/>
            <a:ext cx="1723644" cy="0"/>
          </a:xfrm>
          <a:prstGeom prst="line">
            <a:avLst/>
          </a:prstGeom>
          <a:noFill/>
          <a:ln w="12700">
            <a:solidFill>
              <a:srgbClr val="2C33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53328" y="5289804"/>
            <a:ext cx="82296" cy="82296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37" name="Text 35"/>
          <p:cNvSpPr/>
          <p:nvPr/>
        </p:nvSpPr>
        <p:spPr>
          <a:xfrm>
            <a:off x="7909560" y="5074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fix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909560" y="5349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codeAction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7406640" cy="3063240"/>
          </a:xfrm>
          <a:prstGeom prst="roundRect">
            <a:avLst>
              <a:gd name="adj" fmla="val 1493"/>
            </a:avLst>
          </a:prstGeom>
          <a:solidFill>
            <a:srgbClr val="1B2028"/>
          </a:solidFill>
          <a:ln w="12700">
            <a:solidFill>
              <a:srgbClr val="2C3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" y="137617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55548" y="137617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083564" y="137617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289304" y="128930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bad.bipl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13816" y="1636776"/>
            <a:ext cx="7150608" cy="0"/>
          </a:xfrm>
          <a:prstGeom prst="line">
            <a:avLst/>
          </a:prstGeom>
          <a:noFill/>
          <a:ln w="9525">
            <a:solidFill>
              <a:srgbClr val="2C33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655064"/>
            <a:ext cx="420624" cy="2587752"/>
          </a:xfrm>
          <a:prstGeom prst="rect">
            <a:avLst/>
          </a:prstGeom>
          <a:solidFill>
            <a:srgbClr val="161A20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76479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71016" y="1764792"/>
            <a:ext cx="6620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" y="205740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71016" y="2057400"/>
            <a:ext cx="6620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=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" y="235000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71016" y="2350008"/>
            <a:ext cx="6620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(x) y =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" y="264261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71016" y="2642616"/>
            <a:ext cx="6620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 = y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3232" y="293522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271016" y="2935224"/>
            <a:ext cx="6620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 = (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" y="322783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E5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71016" y="3227832"/>
            <a:ext cx="6620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888236" y="2535174"/>
            <a:ext cx="25603" cy="21084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913839" y="2523476"/>
            <a:ext cx="25603" cy="32782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939442" y="2520580"/>
            <a:ext cx="25603" cy="2897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65046" y="2520580"/>
            <a:ext cx="25603" cy="34389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9806" y="2350008"/>
            <a:ext cx="4944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14C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 must be boolean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888236" y="2827782"/>
            <a:ext cx="25603" cy="21084"/>
          </a:xfrm>
          <a:prstGeom prst="line">
            <a:avLst/>
          </a:prstGeom>
          <a:noFill/>
          <a:ln w="15875">
            <a:solidFill>
              <a:srgbClr val="E5B56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913839" y="2816084"/>
            <a:ext cx="25603" cy="32782"/>
          </a:xfrm>
          <a:prstGeom prst="line">
            <a:avLst/>
          </a:prstGeom>
          <a:noFill/>
          <a:ln w="15875">
            <a:solidFill>
              <a:srgbClr val="E5B56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939442" y="2813188"/>
            <a:ext cx="25603" cy="2897"/>
          </a:xfrm>
          <a:prstGeom prst="line">
            <a:avLst/>
          </a:prstGeom>
          <a:noFill/>
          <a:ln w="15875">
            <a:solidFill>
              <a:srgbClr val="E5B56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65046" y="2813188"/>
            <a:ext cx="25603" cy="34389"/>
          </a:xfrm>
          <a:prstGeom prst="line">
            <a:avLst/>
          </a:prstGeom>
          <a:noFill/>
          <a:ln w="15875">
            <a:solidFill>
              <a:srgbClr val="E5B5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11196" y="2642616"/>
            <a:ext cx="52532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maybe uninitialized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888236" y="3120390"/>
            <a:ext cx="25603" cy="21084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1913839" y="3108692"/>
            <a:ext cx="25603" cy="32782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1939442" y="3105796"/>
            <a:ext cx="25603" cy="2897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65046" y="3105796"/>
            <a:ext cx="25603" cy="34389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1990649" y="3124002"/>
            <a:ext cx="25603" cy="16183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2016252" y="3098591"/>
            <a:ext cx="25603" cy="25411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41855" y="3098591"/>
            <a:ext cx="25603" cy="30281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67458" y="3128872"/>
            <a:ext cx="25603" cy="8611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2093062" y="3102425"/>
            <a:ext cx="25603" cy="35058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18665" y="3102425"/>
            <a:ext cx="25603" cy="10839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44268" y="3113264"/>
            <a:ext cx="25603" cy="29044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2169871" y="3115355"/>
            <a:ext cx="25603" cy="26953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2195474" y="3101265"/>
            <a:ext cx="25603" cy="14090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21078" y="3101265"/>
            <a:ext cx="25603" cy="34771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2246681" y="3130835"/>
            <a:ext cx="25603" cy="5201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2272284" y="3098949"/>
            <a:ext cx="25603" cy="31886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97887" y="3098949"/>
            <a:ext cx="25603" cy="22891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23490" y="3121840"/>
            <a:ext cx="25603" cy="19185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2349094" y="3107491"/>
            <a:ext cx="25603" cy="33535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2374697" y="3106911"/>
            <a:ext cx="25603" cy="580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00300" y="3106911"/>
            <a:ext cx="25603" cy="33857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2425903" y="3122564"/>
            <a:ext cx="25603" cy="18204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2451506" y="3098806"/>
            <a:ext cx="25603" cy="23757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477110" y="3098806"/>
            <a:ext cx="25603" cy="31385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02713" y="3130191"/>
            <a:ext cx="25603" cy="6345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2528316" y="3101631"/>
            <a:ext cx="25603" cy="34905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53919" y="3101631"/>
            <a:ext cx="25603" cy="13021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79522" y="3114652"/>
            <a:ext cx="25603" cy="27681"/>
          </a:xfrm>
          <a:prstGeom prst="line">
            <a:avLst/>
          </a:prstGeom>
          <a:noFill/>
          <a:ln w="15875">
            <a:solidFill>
              <a:srgbClr val="F14C4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28416" y="2935224"/>
            <a:ext cx="4636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14C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'+' expects integers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685800" y="4434840"/>
            <a:ext cx="7406640" cy="502920"/>
          </a:xfrm>
          <a:prstGeom prst="roundRect">
            <a:avLst>
              <a:gd name="adj" fmla="val 7273"/>
            </a:avLst>
          </a:prstGeom>
          <a:solidFill>
            <a:srgbClr val="20262F"/>
          </a:solidFill>
          <a:ln w="12700">
            <a:solidFill>
              <a:srgbClr val="2C33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4400" y="4434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  </a:t>
            </a:r>
            <a:pPr indent="0" marL="0">
              <a:buNone/>
            </a:pPr>
            <a:r>
              <a:rPr lang="en-US" sz="1300" dirty="0">
                <a:solidFill>
                  <a:srgbClr val="F14C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3 errors    </a:t>
            </a:r>
            <a:pPr indent="0" marL="0">
              <a:buNone/>
            </a:pPr>
            <a:r>
              <a:rPr lang="en-US" sz="1300" dirty="0">
                <a:solidFill>
                  <a:srgbClr val="E5B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2 warnings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366760" y="1280160"/>
            <a:ext cx="384048" cy="384048"/>
          </a:xfrm>
          <a:prstGeom prst="ellipse">
            <a:avLst/>
          </a:prstGeom>
          <a:solidFill>
            <a:srgbClr val="20262F"/>
          </a:solidFill>
          <a:ln w="12700">
            <a:solidFill>
              <a:srgbClr val="4EC9B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6676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8869680" y="12344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good.bipl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input hints; hover shows types inferred from use</a:t>
            </a:r>
            <a:endParaRPr lang="en-US" sz="1350" dirty="0"/>
          </a:p>
        </p:txBody>
      </p:sp>
      <p:sp>
        <p:nvSpPr>
          <p:cNvPr id="66" name="Shape 64"/>
          <p:cNvSpPr/>
          <p:nvPr/>
        </p:nvSpPr>
        <p:spPr>
          <a:xfrm>
            <a:off x="8366760" y="2249424"/>
            <a:ext cx="384048" cy="384048"/>
          </a:xfrm>
          <a:prstGeom prst="ellipse">
            <a:avLst/>
          </a:prstGeom>
          <a:solidFill>
            <a:srgbClr val="20262F"/>
          </a:solidFill>
          <a:ln w="12700">
            <a:solidFill>
              <a:srgbClr val="4EC9B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6676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8869680" y="2203704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bad.bipl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type errors + 2 data-flow warnings, live</a:t>
            </a:r>
            <a:endParaRPr lang="en-US" sz="1350" dirty="0"/>
          </a:p>
        </p:txBody>
      </p:sp>
      <p:sp>
        <p:nvSpPr>
          <p:cNvPr id="69" name="Shape 67"/>
          <p:cNvSpPr/>
          <p:nvPr/>
        </p:nvSpPr>
        <p:spPr>
          <a:xfrm>
            <a:off x="8366760" y="3218688"/>
            <a:ext cx="384048" cy="384048"/>
          </a:xfrm>
          <a:prstGeom prst="ellipse">
            <a:avLst/>
          </a:prstGeom>
          <a:solidFill>
            <a:srgbClr val="20262F"/>
          </a:solidFill>
          <a:ln w="12700">
            <a:solidFill>
              <a:srgbClr val="4EC9B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6676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8869680" y="317296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· go-to-definition · find references</a:t>
            </a:r>
            <a:endParaRPr lang="en-US" sz="1350" dirty="0"/>
          </a:p>
        </p:txBody>
      </p:sp>
      <p:sp>
        <p:nvSpPr>
          <p:cNvPr id="72" name="Shape 70"/>
          <p:cNvSpPr/>
          <p:nvPr/>
        </p:nvSpPr>
        <p:spPr>
          <a:xfrm>
            <a:off x="8366760" y="4187952"/>
            <a:ext cx="384048" cy="384048"/>
          </a:xfrm>
          <a:prstGeom prst="ellipse">
            <a:avLst/>
          </a:prstGeom>
          <a:solidFill>
            <a:srgbClr val="20262F"/>
          </a:solidFill>
          <a:ln w="12700">
            <a:solidFill>
              <a:srgbClr val="4EC9B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36676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8869680" y="414223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 rename (rejects invalid names) · quick fix</a:t>
            </a:r>
            <a:endParaRPr lang="en-US" sz="1350" dirty="0"/>
          </a:p>
        </p:txBody>
      </p:sp>
      <p:sp>
        <p:nvSpPr>
          <p:cNvPr id="75" name="Shape 73"/>
          <p:cNvSpPr/>
          <p:nvPr/>
        </p:nvSpPr>
        <p:spPr>
          <a:xfrm>
            <a:off x="8366760" y="5157216"/>
            <a:ext cx="384048" cy="384048"/>
          </a:xfrm>
          <a:prstGeom prst="ellipse">
            <a:avLst/>
          </a:prstGeom>
          <a:solidFill>
            <a:srgbClr val="20262F"/>
          </a:solidFill>
          <a:ln w="12700">
            <a:solidFill>
              <a:srgbClr val="4EC9B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366760" y="5157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77" name="Text 75"/>
          <p:cNvSpPr/>
          <p:nvPr/>
        </p:nvSpPr>
        <p:spPr>
          <a:xfrm>
            <a:off x="8869680" y="511149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typing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factorial, watch diagnostics move as you type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to remember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7373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4E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463040" y="1773936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LSP decouples smartness from the editor.
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Python analysis serves any LSP editor; the VS Code client is 30 lines.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29718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4E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463040" y="3008376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language is not trivial tooling.
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statements still forced type inference without declarations and branch-sensitive data flow.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42062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4E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463040" y="4242816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ECEF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language's own samples were the spec.
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told me inputs aren't errors — and now they guard that decision as tests.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5760720"/>
            <a:ext cx="10835640" cy="0"/>
          </a:xfrm>
          <a:prstGeom prst="line">
            <a:avLst/>
          </a:prstGeom>
          <a:noFill/>
          <a:ln w="9525">
            <a:solidFill>
              <a:srgbClr val="2C3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· tests · demo files   </a:t>
            </a:r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github.com/VivekanandaReddy3/sle-bipl-lsp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2026-07-12T15:21:53Z</dcterms:created>
  <dcterms:modified xsi:type="dcterms:W3CDTF">2026-07-12T15:21:53Z</dcterms:modified>
</cp:coreProperties>
</file>