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bipl-lsp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BIPL, properly.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LSP language server for a language from the Software Languages Book.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676656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5554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356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289304" y="32552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  —  softlang/yas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3602736"/>
            <a:ext cx="6510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73075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71016" y="373075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x) {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400126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71016" y="400126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 = y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427177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71016" y="427177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42616" y="3936492"/>
            <a:ext cx="25603" cy="21084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668219" y="3924794"/>
            <a:ext cx="25603" cy="32782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693822" y="3921898"/>
            <a:ext cx="25603" cy="2897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19426" y="3921898"/>
            <a:ext cx="25603" cy="34389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730752"/>
            <a:ext cx="399592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FA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: int · inferred program input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Vivekananda Reddy Godala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SLE Assignment 3 · Option LSP.2 · Prof. Ralf Lämmel · 2026-07-13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955280" y="34290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claim: 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a tiny language hides two real problems worth tooling.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assignment — and why BIPL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LSP.2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LSP editor for a recurring language in the Software Languages Book (YAS).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0" cy="1417320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chose BIPL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imperative language — a fragment of C. Assignment, if, while, and integer / boolean expressions. No declarations, no input/output.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400800" y="1371600"/>
            <a:ext cx="5120640" cy="3611880"/>
          </a:xfrm>
          <a:prstGeom prst="roundRect">
            <a:avLst>
              <a:gd name="adj" fmla="val 151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536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— BUT WORTH TOOLING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18745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real static semantics behind its five statements: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743700" y="267462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606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consistency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arithmetic vs. boolean; conditions must be boolean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43700" y="322326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variable shouldn't be read before it is assigned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9776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i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diagnostics come from an actual analysis — not from matching keywords.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Approach: reuse the lecture's LSP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stack the LSP lecture demoed for FSML: a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pygls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+ a VS Code client, talking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JSON-RPC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stdio.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 on the wire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074920" cy="1600200"/>
          </a:xfrm>
          <a:prstGeom prst="roundRect">
            <a:avLst>
              <a:gd name="adj" fmla="val 285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"jsonrpc"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"2.0"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"method"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"textDocument/hover"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"params"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"position"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"line"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"character"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at line 0, column 12?” → the server answers from its analysis.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63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lifecycle (from the lecture)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6520" y="2212848"/>
            <a:ext cx="0" cy="2788920"/>
          </a:xfrm>
          <a:prstGeom prst="line">
            <a:avLst/>
          </a:prstGeom>
          <a:noFill/>
          <a:ln w="19050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6228" y="2226564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43800" y="21396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 → initialized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negotiation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96228" y="2830068"/>
            <a:ext cx="100584" cy="100584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752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4380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didOpen · didChange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43800" y="298094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tracks the document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96228" y="3433572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3355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543800" y="33467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 · definition · completion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35844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requests answers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96228" y="4037076"/>
            <a:ext cx="100584" cy="100584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3950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publishDiagnostics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reports problems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96228" y="4640580"/>
            <a:ext cx="100584" cy="100584"/>
          </a:xfrm>
          <a:prstGeom prst="ellipse">
            <a:avLst/>
          </a:prstGeom>
          <a:solidFill>
            <a:srgbClr val="E5B567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562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543800" y="45537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codeAction · formatting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543800" y="479145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proposes edits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mine: </a:t>
            </a:r>
            <a:pPr indent="0" marL="0"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reproduced that architecture and swapped in a much richer analysis for BIPL.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facts that drive everything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trivial imperative programming language … a small fragment of C.”  — softlang/yas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5623560" cy="4160520"/>
          </a:xfrm>
          <a:prstGeom prst="roundRect">
            <a:avLst>
              <a:gd name="adj" fmla="val 109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8333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8333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8333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74650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division.bipl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093976"/>
            <a:ext cx="5367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12264"/>
            <a:ext cx="420624" cy="3685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2199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71016" y="222199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Euclidean division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250545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71016" y="250545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78892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71016" y="278892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=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307238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71016" y="307238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 = x;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" y="3355848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71016" y="3355848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y) {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" y="363931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71016" y="363931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" y="39227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1016" y="392277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q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3232" y="420624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71016" y="420624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" y="448970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71016" y="448970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BIPL leaves implicit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720840" y="2505456"/>
            <a:ext cx="0" cy="786384"/>
          </a:xfrm>
          <a:prstGeom prst="line">
            <a:avLst/>
          </a:prstGeom>
          <a:noFill/>
          <a:ln w="31750">
            <a:solidFill>
              <a:srgbClr val="569C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declarations.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never write int x. The editor must infer every type — nobody states it.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720840" y="3602736"/>
            <a:ext cx="0" cy="786384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3566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boolean literals.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true / false keyword. Booleans exist only as results of comparisons and &amp;&amp; || !.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720840" y="4700016"/>
            <a:ext cx="0" cy="786384"/>
          </a:xfrm>
          <a:prstGeom prst="line">
            <a:avLst/>
          </a:prstGeom>
          <a:noFill/>
          <a:ln w="31750">
            <a:solidFill>
              <a:srgbClr val="4FA6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466344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live in the store.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statement — a program just reads variables already in memory. That is why samples read x without assigning it.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analyzer works — inside analysis.py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file, one function: text goes in, diagnostics come out.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5669280" cy="3794760"/>
          </a:xfrm>
          <a:prstGeom prst="roundRect">
            <a:avLst>
              <a:gd name="adj" fmla="val 1205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87909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87909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87909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79222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analysis.py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139696"/>
            <a:ext cx="541324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57984"/>
            <a:ext cx="420624" cy="331927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6771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71016" y="226771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analyze(text):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3232" y="263347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271016" y="263347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</a:t>
            </a:r>
            <a:pPr algn="l" indent="0" marL="0">
              <a:buNone/>
            </a:pPr>
            <a:r>
              <a:rPr lang="en-US" sz="13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tokenize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3232" y="299923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271016" y="299923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ast    = </a:t>
            </a:r>
            <a:pPr algn="l" indent="0" marL="0">
              <a:buNone/>
            </a:pPr>
            <a:r>
              <a:rPr lang="en-US" sz="13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(tokens).parse_program()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13232" y="336499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271016" y="336499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chk    = </a:t>
            </a:r>
            <a:pPr algn="l" indent="0" marL="0">
              <a:buNone/>
            </a:pPr>
            <a:r>
              <a:rPr lang="en-US" sz="13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Checker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713232" y="373075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373075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chk.collect_assigned(ast)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13232" y="409651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271016" y="409651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chk.check_stmt(ast, </a:t>
            </a:r>
            <a:pPr algn="l" indent="0" marL="0">
              <a:buNone/>
            </a:pPr>
            <a:r>
              <a:rPr lang="en-US" sz="13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3232" y="446227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71016" y="446227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AnalysisResult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3232" y="4828032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271016" y="4828032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ast, diagnostics, variables)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stages, one pass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629400" y="2404872"/>
            <a:ext cx="0" cy="658368"/>
          </a:xfrm>
          <a:prstGeom prst="line">
            <a:avLst/>
          </a:prstGeom>
          <a:noFill/>
          <a:ln w="31750">
            <a:solidFill>
              <a:srgbClr val="569CD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0568" y="23774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Lexer    </a:t>
            </a:r>
            <a:pPr indent="0" marL="0">
              <a:buNone/>
            </a:pPr>
            <a:r>
              <a:rPr lang="en-US" sz="11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tokenize()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830568" y="26517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splits the text into words — numbers, names, symbols — and skips spaces and // comments.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629400" y="3246120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30568" y="32186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Parser    </a:t>
            </a:r>
            <a:pPr indent="0" marL="0"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recursive descent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30568" y="34930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arranges the words into a tree (the AST) following the grammar; recovers from typos.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629400" y="4087368"/>
            <a:ext cx="0" cy="658368"/>
          </a:xfrm>
          <a:prstGeom prst="line">
            <a:avLst/>
          </a:prstGeom>
          <a:noFill/>
          <a:ln w="31750">
            <a:solidFill>
              <a:srgbClr val="4FA6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30568" y="4059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Checker    </a:t>
            </a:r>
            <a:pPr indent="0" marL="0">
              <a:buNone/>
            </a:pPr>
            <a:r>
              <a:rPr lang="en-US" sz="1150" dirty="0">
                <a:solidFill>
                  <a:srgbClr val="4FA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walk of the tree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6830568" y="4334256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type-checks and flow-checks it, recording every variable and where it appears.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629400" y="4928616"/>
            <a:ext cx="0" cy="658368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0568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Result    </a:t>
            </a:r>
            <a:pPr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AnalysisResult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830568" y="517550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diagnostics (the squiggles) plus a table every editor feature reads from.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checks: types and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checking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257800" cy="1280160"/>
          </a:xfrm>
          <a:prstGeom prst="roundRect">
            <a:avLst>
              <a:gd name="adj" fmla="val 3571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9705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9705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9705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883664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types.bipl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231136"/>
            <a:ext cx="500176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249424"/>
            <a:ext cx="420624" cy="80467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3591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71016" y="2359152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13232" y="263347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71016" y="2633472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667256" y="2811780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692859" y="2800082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718462" y="2797186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44066" y="2797186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769669" y="2815392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95272" y="2789981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0875" y="2789981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46478" y="2820262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872082" y="2793815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897685" y="2793815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23288" y="2804654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948891" y="2806745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974494" y="2792655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0098" y="2792655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025701" y="2822225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051304" y="2790339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76907" y="2790339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02510" y="2813230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2128114" y="2798881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59736" y="2633472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can't become bool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85800" y="3246120"/>
            <a:ext cx="525780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3383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9 · WELL-TYPEDNESS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68680" y="36850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⊢ e : T</a:t>
            </a:r>
            <a:pPr indent="0" marL="0">
              <a:buNone/>
            </a:pPr>
            <a:r>
              <a:rPr lang="en-US" sz="12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in context m, expression e has type T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234440" y="4087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e0 : bool      e1 : T      e2 : 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234440" y="4379976"/>
            <a:ext cx="33832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0" y="42611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[t-if]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234440" y="44165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(e0) e1 else e2  :  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68680" y="4754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checker implements this — and completes the operators the YAS Haskell left as “TODO”.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6327648" y="18288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is safe only if the variable is assigned on every path. An if needs both branches; a while body may run zero times. (A data-flow pass — beyond Ch. 9.)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6309360" y="2651760"/>
            <a:ext cx="521208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51092" y="279349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47" name="Shape 45"/>
          <p:cNvSpPr/>
          <p:nvPr/>
        </p:nvSpPr>
        <p:spPr>
          <a:xfrm>
            <a:off x="6579108" y="279349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48" name="Shape 46"/>
          <p:cNvSpPr/>
          <p:nvPr/>
        </p:nvSpPr>
        <p:spPr>
          <a:xfrm>
            <a:off x="6707124" y="279349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49" name="Text 47"/>
          <p:cNvSpPr/>
          <p:nvPr/>
        </p:nvSpPr>
        <p:spPr>
          <a:xfrm>
            <a:off x="6912864" y="270662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flow.bipl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37376" y="3054096"/>
            <a:ext cx="495604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336792" y="307238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52" name="Text 50"/>
          <p:cNvSpPr/>
          <p:nvPr/>
        </p:nvSpPr>
        <p:spPr>
          <a:xfrm>
            <a:off x="6336792" y="318211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894576" y="3182112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6336792" y="344728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894576" y="3447288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y;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6336792" y="371246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6894576" y="3712464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6336792" y="397764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6894576" y="3977640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v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336792" y="424281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6894576" y="4242816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v;</a:t>
            </a:r>
            <a:endParaRPr lang="en-US" sz="1350" dirty="0"/>
          </a:p>
        </p:txBody>
      </p:sp>
      <p:sp>
        <p:nvSpPr>
          <p:cNvPr id="62" name="Shape 60"/>
          <p:cNvSpPr/>
          <p:nvPr/>
        </p:nvSpPr>
        <p:spPr>
          <a:xfrm>
            <a:off x="7306056" y="3632454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7331659" y="3620756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7357262" y="3617860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82866" y="3617860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17536" y="3447288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306056" y="442798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7331659" y="441628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7357262" y="441338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382866" y="441338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717536" y="4242816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maybe uninitialized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6309360" y="47091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result, every feature.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Hover, definition, rename, completion and the outline are all just queries on this.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unassigned read is a bug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reads its inputs from the store. So a naive “read-before-write = error” rule would flag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official sample — as broken.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would reject its own textbook.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680960" cy="2788920"/>
          </a:xfrm>
          <a:prstGeom prst="roundRect">
            <a:avLst>
              <a:gd name="adj" fmla="val 16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86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752344"/>
            <a:ext cx="7406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29535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8892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type-error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32278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must be boolean; a variable can't change type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41832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88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maybe-uninitialized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3886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somewhere, but not on every path to this read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418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44168" y="4270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2702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input-variable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45445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assigned anywhere → a program input; this is fine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6868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YAS samples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with zero errors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0" y="4343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a test locks it in,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 can never regress.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Telling a genuine bug apart from a legitimate input — that is the real work here.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—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7406640" cy="3063240"/>
          </a:xfrm>
          <a:prstGeom prst="roundRect">
            <a:avLst>
              <a:gd name="adj" fmla="val 1493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" y="13761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955548" y="13761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" y="13761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1289304" y="12893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bad.bipl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3816" y="1636776"/>
            <a:ext cx="715060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655064"/>
            <a:ext cx="420624" cy="258775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7647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71016" y="176479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205740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71016" y="2057400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71016" y="2350008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3232" y="264261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71016" y="2642616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z = y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3232" y="293522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271016" y="2935224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 = (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3232" y="32278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71016" y="322783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888236" y="2535174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913839" y="2523476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939442" y="2520580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65046" y="2520580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9806" y="2350008"/>
            <a:ext cx="4944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must be boolean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888236" y="282778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913839" y="281608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939442" y="281318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046" y="281318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1196" y="2642616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888236" y="3120390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13839" y="3108692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939442" y="3105796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046" y="3105796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990649" y="3124002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016252" y="3098591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41855" y="3098591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67458" y="3128872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93062" y="3102425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18665" y="3102425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44268" y="3113264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169871" y="3115355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195474" y="3101265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21078" y="3101265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246681" y="3130835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272284" y="3098949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97887" y="3098949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23490" y="3121840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349094" y="3107491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374697" y="3106911"/>
            <a:ext cx="25603" cy="58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00300" y="3106911"/>
            <a:ext cx="25603" cy="338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425903" y="3122564"/>
            <a:ext cx="25603" cy="1820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2451506" y="3098806"/>
            <a:ext cx="25603" cy="237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77110" y="3098806"/>
            <a:ext cx="25603" cy="313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02713" y="3130191"/>
            <a:ext cx="25603" cy="634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528316" y="3101631"/>
            <a:ext cx="25603" cy="3490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53919" y="3101631"/>
            <a:ext cx="25603" cy="1302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9522" y="3114652"/>
            <a:ext cx="25603" cy="276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28416" y="2935224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'+' expects integers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85800" y="4434840"/>
            <a:ext cx="7406640" cy="502920"/>
          </a:xfrm>
          <a:prstGeom prst="roundRect">
            <a:avLst>
              <a:gd name="adj" fmla="val 7273"/>
            </a:avLst>
          </a:prstGeom>
          <a:solidFill>
            <a:srgbClr val="20262F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4434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  </a:t>
            </a:r>
            <a:pPr indent="0" marL="0">
              <a:buNone/>
            </a:pPr>
            <a:r>
              <a:rPr lang="en-US" sz="13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3 errors    </a:t>
            </a:r>
            <a:pPr indent="0" marL="0">
              <a:buNone/>
            </a:pPr>
            <a:r>
              <a:rPr lang="en-US" sz="13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2 warnings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366760" y="1280160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8869680" y="12344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input hints; hover shows types inferred from use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366760" y="2249424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869680" y="220370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type errors + 2 data-flow warnings, live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366760" y="3218688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8869680" y="317296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 · go-to-definition · find references</a:t>
            </a:r>
            <a:endParaRPr lang="en-US" sz="1350" dirty="0"/>
          </a:p>
        </p:txBody>
      </p:sp>
      <p:sp>
        <p:nvSpPr>
          <p:cNvPr id="72" name="Shape 70"/>
          <p:cNvSpPr/>
          <p:nvPr/>
        </p:nvSpPr>
        <p:spPr>
          <a:xfrm>
            <a:off x="8366760" y="4187952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66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8869680" y="414223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rename (rejects invalid names) · quick fix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366760" y="5157216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667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8869680" y="51114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typing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factorial, watch diagnostics move as you type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loose ends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had to solve — and what I deliberately left open.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Solved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2219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vs. bugs.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rule broke the samples → three severities + an “assigned-anywhere” pre-pass.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" y="31363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08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without declarations.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inference: a constrained use (i &lt;= x) pins the type.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40507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the checker.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YAS TypeChecker.hs ended at “TODO”; I implemented the full operator set.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49651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377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Stayed useful while broken.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recovery: skip to the next ; or } so half-typed code still analyses.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Left open (on purpose)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36792" y="2221992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19456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 type unification.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used only neutrally (r = x) stays unknown — I infer from constrained uses only.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36792" y="3429000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401568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Re-analysis per keystroke.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Whole-document, not incremental. Linear and instant at BIPL's scale; wouldn't scale to big files.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36792" y="4636008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6085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Fidelity vs. usability.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Relaxed the Haskell checker's both-branches-equal rule, and accept the conventional identifier shape (a superset of ls.term).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177393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decouples smartness from the editor.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Python analysis serves any LSP editor; the VS Code client is 30 lines.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63040" y="300837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language is not trivial tooling.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statements still forced type inference without declarations and branch-sensitive data flow.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463040" y="424281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language's own samples were the spec.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told me inputs aren't errors — and now they guard that decision as tests. This is the FSML lecture demo, extended to a harder language.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5806440"/>
            <a:ext cx="10835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tests · demo files   </a:t>
            </a:r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github.com/VivekanandaReddy3/sle-bipl-lsp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2026-07-13T12:30:46Z</dcterms:created>
  <dcterms:modified xsi:type="dcterms:W3CDTF">2026-07-13T12:30:46Z</dcterms:modified>
</cp:coreProperties>
</file>