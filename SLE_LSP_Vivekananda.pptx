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2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713232"/>
            <a:ext cx="164592" cy="164592"/>
          </a:xfrm>
          <a:prstGeom prst="ellipse">
            <a:avLst/>
          </a:prstGeom>
          <a:solidFill>
            <a:srgbClr val="F14C4C"/>
          </a:solidFill>
          <a:ln/>
        </p:spPr>
      </p:sp>
      <p:sp>
        <p:nvSpPr>
          <p:cNvPr id="3" name="Shape 1"/>
          <p:cNvSpPr/>
          <p:nvPr/>
        </p:nvSpPr>
        <p:spPr>
          <a:xfrm>
            <a:off x="941832" y="713232"/>
            <a:ext cx="164592" cy="164592"/>
          </a:xfrm>
          <a:prstGeom prst="ellipse">
            <a:avLst/>
          </a:prstGeom>
          <a:solidFill>
            <a:srgbClr val="D7A700"/>
          </a:solidFill>
          <a:ln/>
        </p:spPr>
      </p:sp>
      <p:sp>
        <p:nvSpPr>
          <p:cNvPr id="4" name="Shape 2"/>
          <p:cNvSpPr/>
          <p:nvPr/>
        </p:nvSpPr>
        <p:spPr>
          <a:xfrm>
            <a:off x="1197864" y="713232"/>
            <a:ext cx="164592" cy="164592"/>
          </a:xfrm>
          <a:prstGeom prst="ellipse">
            <a:avLst/>
          </a:prstGeom>
          <a:solidFill>
            <a:srgbClr val="3794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6949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Editing BIPL, Properly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251460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Language Server and VS Code Client for the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Imperative Programming Language of YAS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40080" y="5074920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SLE Assignment 3 — Option LSP.2
</a:t>
            </a:r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Vivekananda Reddy Godala
</a:t>
            </a:r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Language Engineering · Prof. Ralf Lämmel · 2026-07-13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863840" y="1371600"/>
            <a:ext cx="3703320" cy="3291840"/>
          </a:xfrm>
          <a:prstGeom prst="roundRect">
            <a:avLst>
              <a:gd name="adj" fmla="val 2222"/>
            </a:avLst>
          </a:prstGeom>
          <a:solidFill>
            <a:srgbClr val="2A313A"/>
          </a:solidFill>
          <a:ln/>
        </p:spPr>
      </p:sp>
      <p:sp>
        <p:nvSpPr>
          <p:cNvPr id="9" name="Text 7"/>
          <p:cNvSpPr/>
          <p:nvPr/>
        </p:nvSpPr>
        <p:spPr>
          <a:xfrm>
            <a:off x="8092440" y="1508760"/>
            <a:ext cx="32461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y = 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 = 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while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(i &lt;= x) {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~ 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79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x: program input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y = y * i;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 = i + 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863840" y="480060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factorialV1.bipl — an official YAS sample, as the server sees it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2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BIPL in 30 seconds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5029200" cy="3931920"/>
          </a:xfrm>
          <a:prstGeom prst="roundRect">
            <a:avLst>
              <a:gd name="adj" fmla="val 1860"/>
            </a:avLst>
          </a:prstGeom>
          <a:solidFill>
            <a:srgbClr val="2A313A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554480"/>
            <a:ext cx="45720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Euclidean division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q =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 = x;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while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(r &gt;= y) {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 = r - y;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 = q +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(r &lt;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 = -r;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126480" y="141732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tiny fragment of C: assignment, blocks, if/else, while; integer and boolean expressions. No declarations, no I/O, no procedures.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26480" y="2560320"/>
            <a:ext cx="5486400" cy="822960"/>
          </a:xfrm>
          <a:prstGeom prst="roundRect">
            <a:avLst>
              <a:gd name="adj" fmla="val 8889"/>
            </a:avLst>
          </a:prstGeom>
          <a:solidFill>
            <a:srgbClr val="252B33"/>
          </a:solidFill>
          <a:ln/>
        </p:spPr>
      </p:sp>
      <p:sp>
        <p:nvSpPr>
          <p:cNvPr id="7" name="Shape 5"/>
          <p:cNvSpPr/>
          <p:nvPr/>
        </p:nvSpPr>
        <p:spPr>
          <a:xfrm>
            <a:off x="6355080" y="2889504"/>
            <a:ext cx="164592" cy="164592"/>
          </a:xfrm>
          <a:prstGeom prst="ellipse">
            <a:avLst/>
          </a:prstGeom>
          <a:solidFill>
            <a:srgbClr val="4EC9B0"/>
          </a:solidFill>
          <a:ln/>
        </p:spPr>
      </p:sp>
      <p:sp>
        <p:nvSpPr>
          <p:cNvPr id="8" name="Text 6"/>
          <p:cNvSpPr/>
          <p:nvPr/>
        </p:nvSpPr>
        <p:spPr>
          <a:xfrm>
            <a:off x="6675120" y="263347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declarations —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variable's type exists only implicitly — the editor must infer it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26480" y="3520440"/>
            <a:ext cx="5486400" cy="822960"/>
          </a:xfrm>
          <a:prstGeom prst="roundRect">
            <a:avLst>
              <a:gd name="adj" fmla="val 8889"/>
            </a:avLst>
          </a:prstGeom>
          <a:solidFill>
            <a:srgbClr val="252B33"/>
          </a:solidFill>
          <a:ln/>
        </p:spPr>
      </p:sp>
      <p:sp>
        <p:nvSpPr>
          <p:cNvPr id="10" name="Shape 8"/>
          <p:cNvSpPr/>
          <p:nvPr/>
        </p:nvSpPr>
        <p:spPr>
          <a:xfrm>
            <a:off x="6355080" y="3849624"/>
            <a:ext cx="164592" cy="164592"/>
          </a:xfrm>
          <a:prstGeom prst="ellipse">
            <a:avLst/>
          </a:prstGeom>
          <a:solidFill>
            <a:srgbClr val="4EC9B0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35935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boolean literals —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bool values arise only from comparisons and &amp;&amp;, ||, !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26480" y="4480560"/>
            <a:ext cx="5486400" cy="822960"/>
          </a:xfrm>
          <a:prstGeom prst="roundRect">
            <a:avLst>
              <a:gd name="adj" fmla="val 8889"/>
            </a:avLst>
          </a:prstGeom>
          <a:solidFill>
            <a:srgbClr val="252B33"/>
          </a:solidFill>
          <a:ln/>
        </p:spPr>
      </p:sp>
      <p:sp>
        <p:nvSpPr>
          <p:cNvPr id="13" name="Shape 11"/>
          <p:cNvSpPr/>
          <p:nvPr/>
        </p:nvSpPr>
        <p:spPr>
          <a:xfrm>
            <a:off x="6355080" y="4809744"/>
            <a:ext cx="164592" cy="164592"/>
          </a:xfrm>
          <a:prstGeom prst="ellipse">
            <a:avLst/>
          </a:prstGeom>
          <a:solidFill>
            <a:srgbClr val="4EC9B0"/>
          </a:solidFill>
          <a:ln/>
        </p:spPr>
      </p:sp>
      <p:sp>
        <p:nvSpPr>
          <p:cNvPr id="14" name="Text 12"/>
          <p:cNvSpPr/>
          <p:nvPr/>
        </p:nvSpPr>
        <p:spPr>
          <a:xfrm>
            <a:off x="6675120" y="45537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 come from the initial store —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samples read variables they never assign (“Assume x to be positive”)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Concrete syntax: cs.egl · abstract syntax: as.esl · typing: TypeChecker.hs — all from softlang/yas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2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Architecture: one analysis, many features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645920"/>
            <a:ext cx="3108960" cy="2103120"/>
          </a:xfrm>
          <a:prstGeom prst="roundRect">
            <a:avLst>
              <a:gd name="adj" fmla="val 4348"/>
            </a:avLst>
          </a:prstGeom>
          <a:solidFill>
            <a:srgbClr val="2A313A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828800"/>
            <a:ext cx="2651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569C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Code client
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TypeScript, ~30 lines
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registers .bipl, starts the server, renders everything else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3886200" y="22402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JSON-RPC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 stdio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886200" y="2971800"/>
            <a:ext cx="1371600" cy="0"/>
          </a:xfrm>
          <a:prstGeom prst="line">
            <a:avLst/>
          </a:prstGeom>
          <a:noFill/>
          <a:ln w="25400">
            <a:solidFill>
              <a:srgbClr val="9AA5B1"/>
            </a:solidFill>
            <a:prstDash val="solid"/>
            <a:headEnd type="arrow"/>
            <a:tailEnd type="arrow"/>
          </a:ln>
        </p:spPr>
      </p:sp>
      <p:sp>
        <p:nvSpPr>
          <p:cNvPr id="7" name="Shape 5"/>
          <p:cNvSpPr/>
          <p:nvPr/>
        </p:nvSpPr>
        <p:spPr>
          <a:xfrm>
            <a:off x="5394960" y="1645920"/>
            <a:ext cx="3017520" cy="2103120"/>
          </a:xfrm>
          <a:prstGeom prst="roundRect">
            <a:avLst>
              <a:gd name="adj" fmla="val 4348"/>
            </a:avLst>
          </a:prstGeom>
          <a:solidFill>
            <a:srgbClr val="2A313A"/>
          </a:solidFill>
          <a:ln/>
        </p:spPr>
      </p:sp>
      <p:sp>
        <p:nvSpPr>
          <p:cNvPr id="8" name="Text 6"/>
          <p:cNvSpPr/>
          <p:nvPr/>
        </p:nvSpPr>
        <p:spPr>
          <a:xfrm>
            <a:off x="5623560" y="1828800"/>
            <a:ext cx="2560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bipl-lsp server
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Python, pygls
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stack as the FSML demo from the LSP lecture — a new language on a proven architecture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412480" y="2971800"/>
            <a:ext cx="640080" cy="0"/>
          </a:xfrm>
          <a:prstGeom prst="line">
            <a:avLst/>
          </a:prstGeom>
          <a:noFill/>
          <a:ln w="25400">
            <a:solidFill>
              <a:srgbClr val="9AA5B1"/>
            </a:solidFill>
            <a:prstDash val="solid"/>
            <a:tailEnd type="arrow"/>
          </a:ln>
        </p:spPr>
      </p:sp>
      <p:sp>
        <p:nvSpPr>
          <p:cNvPr id="10" name="Shape 8"/>
          <p:cNvSpPr/>
          <p:nvPr/>
        </p:nvSpPr>
        <p:spPr>
          <a:xfrm>
            <a:off x="9052560" y="1417320"/>
            <a:ext cx="2514600" cy="2560320"/>
          </a:xfrm>
          <a:prstGeom prst="roundRect">
            <a:avLst>
              <a:gd name="adj" fmla="val 3636"/>
            </a:avLst>
          </a:prstGeom>
          <a:solidFill>
            <a:srgbClr val="252B33"/>
          </a:solidFill>
          <a:ln/>
        </p:spPr>
      </p:sp>
      <p:sp>
        <p:nvSpPr>
          <p:cNvPr id="11" name="Text 9"/>
          <p:cNvSpPr/>
          <p:nvPr/>
        </p:nvSpPr>
        <p:spPr>
          <a:xfrm>
            <a:off x="9281160" y="1600200"/>
            <a:ext cx="2103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analyze(text)
</a:t>
            </a:r>
            <a:pPr indent="0" marL="0">
              <a:lnSpc>
                <a:spcPct val="125000"/>
              </a:lnSpc>
              <a:buNone/>
            </a:pP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lexer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recursive-descent parser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checker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definite assignment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symbol table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434840"/>
            <a:ext cx="10927080" cy="1554480"/>
          </a:xfrm>
          <a:prstGeom prst="roundRect">
            <a:avLst>
              <a:gd name="adj" fmla="val 5882"/>
            </a:avLst>
          </a:prstGeom>
          <a:solidFill>
            <a:srgbClr val="252B33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5120640"/>
            <a:ext cx="164592" cy="164592"/>
          </a:xfrm>
          <a:prstGeom prst="ellipse">
            <a:avLst/>
          </a:prstGeom>
          <a:solidFill>
            <a:srgbClr val="F14C4C"/>
          </a:solidFill>
          <a:ln/>
        </p:spPr>
      </p:sp>
      <p:sp>
        <p:nvSpPr>
          <p:cNvPr id="14" name="Shape 12"/>
          <p:cNvSpPr/>
          <p:nvPr/>
        </p:nvSpPr>
        <p:spPr>
          <a:xfrm>
            <a:off x="1170432" y="5120640"/>
            <a:ext cx="164592" cy="164592"/>
          </a:xfrm>
          <a:prstGeom prst="ellipse">
            <a:avLst/>
          </a:prstGeom>
          <a:solidFill>
            <a:srgbClr val="D7A700"/>
          </a:solidFill>
          <a:ln/>
        </p:spPr>
      </p:sp>
      <p:sp>
        <p:nvSpPr>
          <p:cNvPr id="15" name="Shape 13"/>
          <p:cNvSpPr/>
          <p:nvPr/>
        </p:nvSpPr>
        <p:spPr>
          <a:xfrm>
            <a:off x="1426464" y="5120640"/>
            <a:ext cx="164592" cy="164592"/>
          </a:xfrm>
          <a:prstGeom prst="ellipse">
            <a:avLst/>
          </a:prstGeom>
          <a:solidFill>
            <a:srgbClr val="3794FF"/>
          </a:solidFill>
          <a:ln/>
        </p:spPr>
      </p:sp>
      <p:sp>
        <p:nvSpPr>
          <p:cNvPr id="16" name="Text 14"/>
          <p:cNvSpPr/>
          <p:nvPr/>
        </p:nvSpPr>
        <p:spPr>
          <a:xfrm>
            <a:off x="1737360" y="4617720"/>
            <a:ext cx="9509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is one pure function: 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analyze(text) → AST + diagnostics + symbol table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 Hover, definition, references, rename, completion, and outline are all cheap queries against its result — cached per document version.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2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static semantics behind the squiggles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440680" cy="4846320"/>
          </a:xfrm>
          <a:prstGeom prst="roundRect">
            <a:avLst>
              <a:gd name="adj" fmla="val 1887"/>
            </a:avLst>
          </a:prstGeom>
          <a:solidFill>
            <a:srgbClr val="2A313A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6002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inference (no declarations!)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1488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variable gets its type from its first assignment,
following YAS's TypeChecker.hs:
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14400" y="2834640"/>
            <a:ext cx="4892040" cy="1143000"/>
          </a:xfrm>
          <a:prstGeom prst="roundRect">
            <a:avLst>
              <a:gd name="adj" fmla="val 6400"/>
            </a:avLst>
          </a:prstGeom>
          <a:solidFill>
            <a:srgbClr val="2A313A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2971800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      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x : int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 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  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14C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error: int vs bool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41605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variables are typed from use — the demand-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driven twist this project adds: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14400" y="4846320"/>
            <a:ext cx="4892040" cy="1143000"/>
          </a:xfrm>
          <a:prstGeom prst="roundRect">
            <a:avLst>
              <a:gd name="adj" fmla="val 6400"/>
            </a:avLst>
          </a:prstGeom>
          <a:solidFill>
            <a:srgbClr val="2A313A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4983480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(i &lt;= x) 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x : int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(b)        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 : bool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355080" y="1371600"/>
            <a:ext cx="5212080" cy="4846320"/>
          </a:xfrm>
          <a:prstGeom prst="roundRect">
            <a:avLst>
              <a:gd name="adj" fmla="val 1887"/>
            </a:avLst>
          </a:prstGeom>
          <a:solidFill>
            <a:srgbClr val="2A313A"/>
          </a:solidFill>
          <a:ln/>
        </p:spPr>
      </p:sp>
      <p:sp>
        <p:nvSpPr>
          <p:cNvPr id="12" name="Text 10"/>
          <p:cNvSpPr/>
          <p:nvPr/>
        </p:nvSpPr>
        <p:spPr>
          <a:xfrm>
            <a:off x="6629400" y="16002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69C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Definite assignment (data flow)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629400" y="2148840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read is safe only if the variable is assigned on every path that reaches it: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629400" y="2834640"/>
            <a:ext cx="4663440" cy="1920240"/>
          </a:xfrm>
          <a:prstGeom prst="roundRect">
            <a:avLst>
              <a:gd name="adj" fmla="val 3810"/>
            </a:avLst>
          </a:prstGeom>
          <a:solidFill>
            <a:srgbClr val="2A313A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0" y="2971800"/>
            <a:ext cx="4206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(c) y = 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 = y;  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7A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warning: maybe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(c) v = 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 = v;  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7A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body may run 0×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629400" y="493776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counts only what both branches assign; a 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body counts for nothing. Assignment on both branches is definite.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2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every unassigned read is an error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BIPL programs receive inputs through the initial store. Official YAS samples read variables they never assign — factorialV1.bipl literally says </a:t>
            </a:r>
            <a:pPr indent="0" marL="0">
              <a:lnSpc>
                <a:spcPct val="125000"/>
              </a:lnSpc>
              <a:buNone/>
            </a:pPr>
            <a:r>
              <a:rPr lang="en-US" sz="1600" i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“Assume x to be positive”</a:t>
            </a:r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A naive “use before assignment” error would flag the language's own samples as broken.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2606040"/>
            <a:ext cx="10972800" cy="822960"/>
          </a:xfrm>
          <a:prstGeom prst="roundRect">
            <a:avLst>
              <a:gd name="adj" fmla="val 8889"/>
            </a:avLst>
          </a:prstGeom>
          <a:solidFill>
            <a:srgbClr val="2A313A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926080"/>
            <a:ext cx="182880" cy="182880"/>
          </a:xfrm>
          <a:prstGeom prst="ellipse">
            <a:avLst/>
          </a:prstGeom>
          <a:solidFill>
            <a:srgbClr val="F14C4C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2679192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4C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743200" y="267919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5B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type-error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212080" y="2679192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conditions must be boolean; operands must match; a variable keeps its inferred type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66160"/>
            <a:ext cx="10972800" cy="822960"/>
          </a:xfrm>
          <a:prstGeom prst="roundRect">
            <a:avLst>
              <a:gd name="adj" fmla="val 8889"/>
            </a:avLst>
          </a:prstGeom>
          <a:solidFill>
            <a:srgbClr val="2A313A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3886200"/>
            <a:ext cx="182880" cy="182880"/>
          </a:xfrm>
          <a:prstGeom prst="ellipse">
            <a:avLst/>
          </a:prstGeom>
          <a:solidFill>
            <a:srgbClr val="D7A700"/>
          </a:solidFill>
          <a:ln/>
        </p:spPr>
      </p:sp>
      <p:sp>
        <p:nvSpPr>
          <p:cNvPr id="11" name="Text 9"/>
          <p:cNvSpPr/>
          <p:nvPr/>
        </p:nvSpPr>
        <p:spPr>
          <a:xfrm>
            <a:off x="1280160" y="3639312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7A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Warning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743200" y="363931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5B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maybe-uninitialized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212080" y="3639312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assigned somewhere, but not on every path reaching this read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4526280"/>
            <a:ext cx="10972800" cy="822960"/>
          </a:xfrm>
          <a:prstGeom prst="roundRect">
            <a:avLst>
              <a:gd name="adj" fmla="val 8889"/>
            </a:avLst>
          </a:prstGeom>
          <a:solidFill>
            <a:srgbClr val="2A313A"/>
          </a:solidFill>
          <a:ln/>
        </p:spPr>
      </p:sp>
      <p:sp>
        <p:nvSpPr>
          <p:cNvPr id="15" name="Shape 13"/>
          <p:cNvSpPr/>
          <p:nvPr/>
        </p:nvSpPr>
        <p:spPr>
          <a:xfrm>
            <a:off x="914400" y="4846320"/>
            <a:ext cx="182880" cy="182880"/>
          </a:xfrm>
          <a:prstGeom prst="ellipse">
            <a:avLst/>
          </a:prstGeom>
          <a:solidFill>
            <a:srgbClr val="3794FF"/>
          </a:solidFill>
          <a:ln/>
        </p:spPr>
      </p:sp>
      <p:sp>
        <p:nvSpPr>
          <p:cNvPr id="16" name="Text 14"/>
          <p:cNvSpPr/>
          <p:nvPr/>
        </p:nvSpPr>
        <p:spPr>
          <a:xfrm>
            <a:off x="1280160" y="4599432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79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Information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743200" y="459943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5B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input-variable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212080" y="4599432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assigned at all → treated as a program input; type inferred from use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5623560"/>
            <a:ext cx="10972800" cy="777240"/>
          </a:xfrm>
          <a:prstGeom prst="roundRect">
            <a:avLst>
              <a:gd name="adj" fmla="val 9412"/>
            </a:avLst>
          </a:prstGeom>
          <a:solidFill>
            <a:srgbClr val="252B33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5715000"/>
            <a:ext cx="10424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Consequence: </a:t>
            </a:r>
            <a:pPr indent="0" marL="0">
              <a:buNone/>
            </a:pPr>
            <a:r>
              <a:rPr lang="en-US" sz="1500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12 official YAS samples analyze error-free — and the test suite enforces that as a regression check.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2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LSP features, and what powers them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10972800" cy="566928"/>
          </a:xfrm>
          <a:prstGeom prst="roundRect">
            <a:avLst>
              <a:gd name="adj" fmla="val 9677"/>
            </a:avLst>
          </a:prstGeom>
          <a:solidFill>
            <a:srgbClr val="2A313A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399032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611880" y="1399032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publishDiagnostics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46520" y="1399032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parser recovery + type checker + definite assignment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039112"/>
            <a:ext cx="10972800" cy="566928"/>
          </a:xfrm>
          <a:prstGeom prst="roundRect">
            <a:avLst>
              <a:gd name="adj" fmla="val 9677"/>
            </a:avLst>
          </a:prstGeom>
          <a:solidFill>
            <a:srgbClr val="252B33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066544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Hover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11880" y="206654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textDocument/hover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46520" y="2066544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inferred type, input status, assignment/read counts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2706624"/>
            <a:ext cx="10972800" cy="566928"/>
          </a:xfrm>
          <a:prstGeom prst="roundRect">
            <a:avLst>
              <a:gd name="adj" fmla="val 9677"/>
            </a:avLst>
          </a:prstGeom>
          <a:solidFill>
            <a:srgbClr val="2A313A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734056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to definition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11880" y="2734056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textDocument/definition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46520" y="2734056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variable's first assignment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3374136"/>
            <a:ext cx="10972800" cy="566928"/>
          </a:xfrm>
          <a:prstGeom prst="roundRect">
            <a:avLst>
              <a:gd name="adj" fmla="val 9677"/>
            </a:avLst>
          </a:prstGeom>
          <a:solidFill>
            <a:srgbClr val="252B33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401568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references / Rename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611880" y="3401568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references / rename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46520" y="3401568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occurrences from the symbol table (rename validates the new identifier)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4041648"/>
            <a:ext cx="10972800" cy="566928"/>
          </a:xfrm>
          <a:prstGeom prst="roundRect">
            <a:avLst>
              <a:gd name="adj" fmla="val 9677"/>
            </a:avLst>
          </a:prstGeom>
          <a:solidFill>
            <a:srgbClr val="2A313A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4069080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Completion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611880" y="406908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textDocument/completion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46520" y="4069080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keywords + known variables, each labeled with its inferred type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4709160"/>
            <a:ext cx="10972800" cy="566928"/>
          </a:xfrm>
          <a:prstGeom prst="roundRect">
            <a:avLst>
              <a:gd name="adj" fmla="val 9677"/>
            </a:avLst>
          </a:prstGeom>
          <a:solidFill>
            <a:srgbClr val="252B33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4736592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Outline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611880" y="4736592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documentSymbol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46520" y="4736592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variables with types in the breadcrumb/outline view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5376672"/>
            <a:ext cx="10972800" cy="566928"/>
          </a:xfrm>
          <a:prstGeom prst="roundRect">
            <a:avLst>
              <a:gd name="adj" fmla="val 9677"/>
            </a:avLst>
          </a:prstGeom>
          <a:solidFill>
            <a:srgbClr val="2A313A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5404104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fix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611880" y="540410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codeAction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46520" y="5404104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initialize a maybe-uninitialized variable at program start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feature is a query against the cached result of analyze(text) — no feature has its own parser.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2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2148840" y="749808"/>
            <a:ext cx="164592" cy="164592"/>
          </a:xfrm>
          <a:prstGeom prst="ellipse">
            <a:avLst/>
          </a:prstGeom>
          <a:solidFill>
            <a:srgbClr val="F14C4C"/>
          </a:solidFill>
          <a:ln/>
        </p:spPr>
      </p:sp>
      <p:sp>
        <p:nvSpPr>
          <p:cNvPr id="4" name="Shape 2"/>
          <p:cNvSpPr/>
          <p:nvPr/>
        </p:nvSpPr>
        <p:spPr>
          <a:xfrm>
            <a:off x="2404872" y="749808"/>
            <a:ext cx="164592" cy="164592"/>
          </a:xfrm>
          <a:prstGeom prst="ellipse">
            <a:avLst/>
          </a:prstGeom>
          <a:solidFill>
            <a:srgbClr val="D7A700"/>
          </a:solidFill>
          <a:ln/>
        </p:spPr>
      </p:sp>
      <p:sp>
        <p:nvSpPr>
          <p:cNvPr id="5" name="Shape 3"/>
          <p:cNvSpPr/>
          <p:nvPr/>
        </p:nvSpPr>
        <p:spPr>
          <a:xfrm>
            <a:off x="2660904" y="749808"/>
            <a:ext cx="164592" cy="164592"/>
          </a:xfrm>
          <a:prstGeom prst="ellipse">
            <a:avLst/>
          </a:prstGeom>
          <a:solidFill>
            <a:srgbClr val="3794FF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527048"/>
            <a:ext cx="502920" cy="502920"/>
          </a:xfrm>
          <a:prstGeom prst="ellipse">
            <a:avLst/>
          </a:prstGeom>
          <a:solidFill>
            <a:srgbClr val="2A313A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527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17320" y="1435608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good.bipl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Euclidean division — blue “program input” hints on x and y; hover shows types inferred purely from use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85800" y="2459736"/>
            <a:ext cx="502920" cy="502920"/>
          </a:xfrm>
          <a:prstGeom prst="ellipse">
            <a:avLst/>
          </a:prstGeom>
          <a:solidFill>
            <a:srgbClr val="2A313A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4597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17320" y="2368296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bad.bipl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diagnostics: three type errors, two data-flow warnings — real analyses, not keyword matching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85800" y="3392424"/>
            <a:ext cx="502920" cy="502920"/>
          </a:xfrm>
          <a:prstGeom prst="ellipse">
            <a:avLst/>
          </a:prstGeom>
          <a:solidFill>
            <a:srgbClr val="2A313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33924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17320" y="3300984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Navigate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hover a variable · Cmd-click to its first assignment · find all references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85800" y="4325112"/>
            <a:ext cx="502920" cy="502920"/>
          </a:xfrm>
          <a:prstGeom prst="ellipse">
            <a:avLst/>
          </a:prstGeom>
          <a:solidFill>
            <a:srgbClr val="2A313A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43251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417320" y="4233672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Refactor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F2 rename (rejects invalid identifiers) · quick-fix a maybe-uninitialized warning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85800" y="5257800"/>
            <a:ext cx="502920" cy="502920"/>
          </a:xfrm>
          <a:prstGeom prst="ellipse">
            <a:avLst/>
          </a:prstGeom>
          <a:solidFill>
            <a:srgbClr val="2A313A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" y="5257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417320" y="516636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typing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the factorial sample and watch the diagnostics move as the analysis re-runs on every keystroke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0080" y="62179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Extension Development Host (F5 from the vscode/ folder) — server started from PATH, talking JSON-RPC over stdio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2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713232"/>
            <a:ext cx="164592" cy="164592"/>
          </a:xfrm>
          <a:prstGeom prst="ellipse">
            <a:avLst/>
          </a:prstGeom>
          <a:solidFill>
            <a:srgbClr val="F14C4C"/>
          </a:solidFill>
          <a:ln/>
        </p:spPr>
      </p:sp>
      <p:sp>
        <p:nvSpPr>
          <p:cNvPr id="3" name="Shape 1"/>
          <p:cNvSpPr/>
          <p:nvPr/>
        </p:nvSpPr>
        <p:spPr>
          <a:xfrm>
            <a:off x="941832" y="713232"/>
            <a:ext cx="164592" cy="164592"/>
          </a:xfrm>
          <a:prstGeom prst="ellipse">
            <a:avLst/>
          </a:prstGeom>
          <a:solidFill>
            <a:srgbClr val="D7A700"/>
          </a:solidFill>
          <a:ln/>
        </p:spPr>
      </p:sp>
      <p:sp>
        <p:nvSpPr>
          <p:cNvPr id="4" name="Shape 2"/>
          <p:cNvSpPr/>
          <p:nvPr/>
        </p:nvSpPr>
        <p:spPr>
          <a:xfrm>
            <a:off x="1197864" y="713232"/>
            <a:ext cx="164592" cy="164592"/>
          </a:xfrm>
          <a:prstGeom prst="ellipse">
            <a:avLst/>
          </a:prstGeom>
          <a:solidFill>
            <a:srgbClr val="3794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515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I'd want you to remember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40080" y="2148840"/>
            <a:ext cx="10972800" cy="960120"/>
          </a:xfrm>
          <a:prstGeom prst="roundRect">
            <a:avLst>
              <a:gd name="adj" fmla="val 9524"/>
            </a:avLst>
          </a:prstGeom>
          <a:solidFill>
            <a:srgbClr val="2A313A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58568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LSP decouples smartness from the editor
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Python analysis serves any LSP editor; the VS Code client is ~30 lines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3291840"/>
            <a:ext cx="10972800" cy="960120"/>
          </a:xfrm>
          <a:prstGeom prst="roundRect">
            <a:avLst>
              <a:gd name="adj" fmla="val 9524"/>
            </a:avLst>
          </a:prstGeom>
          <a:solidFill>
            <a:srgbClr val="2A313A"/>
          </a:solidFill>
          <a:ln/>
        </p:spPr>
      </p:sp>
      <p:sp>
        <p:nvSpPr>
          <p:cNvPr id="9" name="Text 7"/>
          <p:cNvSpPr/>
          <p:nvPr/>
        </p:nvSpPr>
        <p:spPr>
          <a:xfrm>
            <a:off x="960120" y="3401568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language ≠ trivial tooling
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5 statement forms force real decisions: inference without declarations, branch-sensitive data flow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4434840"/>
            <a:ext cx="10972800" cy="960120"/>
          </a:xfrm>
          <a:prstGeom prst="roundRect">
            <a:avLst>
              <a:gd name="adj" fmla="val 9524"/>
            </a:avLst>
          </a:prstGeom>
          <a:solidFill>
            <a:srgbClr val="2A313A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4544568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language's own corpus is the spec
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YAS samples decided the input-variable design — and now guard it as tests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Code, tests, and demo files:  </a:t>
            </a:r>
            <a:pPr indent="0" marL="0">
              <a:buNone/>
            </a:pPr>
            <a:r>
              <a:rPr lang="en-US" sz="15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github.com/VivekanandaReddy3/sle-bipl-lsp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2026-07-12T14:05:53Z</dcterms:created>
  <dcterms:modified xsi:type="dcterms:W3CDTF">2026-07-12T14:05:53Z</dcterms:modified>
</cp:coreProperties>
</file>