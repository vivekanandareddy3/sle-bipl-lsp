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bipl-lsp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58368" y="11887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Editing BIPL, properly.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85800" y="2331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LSP language server for a language from the Software Languages Book.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6766560" cy="1874520"/>
          </a:xfrm>
          <a:prstGeom prst="roundRect">
            <a:avLst>
              <a:gd name="adj" fmla="val 243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" y="3342132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955548" y="3342132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3564" y="3342132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/>
          <p:nvPr/>
        </p:nvSpPr>
        <p:spPr>
          <a:xfrm>
            <a:off x="1289304" y="3255264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factorialV1.bipl  —  softlang/yas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13816" y="3602736"/>
            <a:ext cx="651052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232" y="3621024"/>
            <a:ext cx="420624" cy="139903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3730752"/>
            <a:ext cx="329184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71016" y="3730752"/>
            <a:ext cx="5980176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(i 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x) {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13232" y="4001262"/>
            <a:ext cx="329184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71016" y="4001262"/>
            <a:ext cx="5980176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 = y 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i;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13232" y="4271772"/>
            <a:ext cx="329184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71016" y="4271772"/>
            <a:ext cx="5980176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642616" y="3936492"/>
            <a:ext cx="25603" cy="21084"/>
          </a:xfrm>
          <a:prstGeom prst="line">
            <a:avLst/>
          </a:prstGeom>
          <a:noFill/>
          <a:ln w="15875">
            <a:solidFill>
              <a:srgbClr val="4FA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2668219" y="3924794"/>
            <a:ext cx="25603" cy="32782"/>
          </a:xfrm>
          <a:prstGeom prst="line">
            <a:avLst/>
          </a:prstGeom>
          <a:noFill/>
          <a:ln w="15875">
            <a:solidFill>
              <a:srgbClr val="4FA6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2693822" y="3921898"/>
            <a:ext cx="25603" cy="2897"/>
          </a:xfrm>
          <a:prstGeom prst="line">
            <a:avLst/>
          </a:prstGeom>
          <a:noFill/>
          <a:ln w="15875">
            <a:solidFill>
              <a:srgbClr val="4FA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19426" y="3921898"/>
            <a:ext cx="25603" cy="34389"/>
          </a:xfrm>
          <a:prstGeom prst="line">
            <a:avLst/>
          </a:prstGeom>
          <a:noFill/>
          <a:ln w="15875">
            <a:solidFill>
              <a:srgbClr val="4FA6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28416" y="3730752"/>
            <a:ext cx="3995928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FA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: int · inferred program input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Vivekananda Reddy Godala</a:t>
            </a:r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SLE Assignment 3 · Option LSP.2 · Prof. Ralf Lämmel · 2026-07-13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955280" y="34290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claim: </a:t>
            </a:r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five statements hide two real language problems.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assignment — and why BIPL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LSP.2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 LSP editor for a recurring language in the Software Languages Book (YAS).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13232" y="2743200"/>
            <a:ext cx="0" cy="1417320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743200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chose BIPL
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imperative language — a fragment of C. Assignment, if, while, and integer / boolean expressions. No declarations, no input/output.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6400800" y="1371600"/>
            <a:ext cx="5120640" cy="3611880"/>
          </a:xfrm>
          <a:prstGeom prst="roundRect">
            <a:avLst>
              <a:gd name="adj" fmla="val 151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15361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— BUT WORTH TOOLING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629400" y="187452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BIPL</a:t>
            </a:r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has real static semantics behind its five statements: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743700" y="2674620"/>
            <a:ext cx="82296" cy="82296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0" y="26060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consistency  </a:t>
            </a:r>
            <a:pPr indent="0" marL="0"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arithmetic vs. boolean; conditions must be boolean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743700" y="3223260"/>
            <a:ext cx="82296" cy="82296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0" y="31546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definite assignment  </a:t>
            </a:r>
            <a:pPr indent="0" marL="0"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 variable shouldn't be read before it is assigned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629400" y="379476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diagnostics come from an actual analysis — not from matching keywords.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629400" y="4480560"/>
            <a:ext cx="4663440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9400" y="461772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with the teaching staff.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Approach: reuse the lecture's LSP setup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04088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stack the LSP lecture demoed for FSML: a </a:t>
            </a:r>
            <a:pPr indent="0" marL="0">
              <a:buNone/>
            </a:pPr>
            <a:r>
              <a:rPr lang="en-US" sz="15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pygls</a:t>
            </a:r>
            <a:pPr indent="0" marL="0"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server + a VS Code client, talking </a:t>
            </a:r>
            <a:pPr indent="0" marL="0">
              <a:buNone/>
            </a:pPr>
            <a:r>
              <a:rPr lang="en-US" sz="15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JSON-RPC</a:t>
            </a:r>
            <a:pPr indent="0" marL="0"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 stdio.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request on the wire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074920" cy="1600200"/>
          </a:xfrm>
          <a:prstGeom prst="roundRect">
            <a:avLst>
              <a:gd name="adj" fmla="val 2857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28600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"jsonrpc"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"2.0"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"method"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"textDocument/hover"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"params"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"position"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"line"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"character"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}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“what's at line 0, column 12?” → the server answers from its analysis.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6364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session lifecycle (from the lecture)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46520" y="2212848"/>
            <a:ext cx="0" cy="2788920"/>
          </a:xfrm>
          <a:prstGeom prst="line">
            <a:avLst/>
          </a:prstGeom>
          <a:noFill/>
          <a:ln w="19050">
            <a:solidFill>
              <a:srgbClr val="2C3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96228" y="2226564"/>
            <a:ext cx="100584" cy="100584"/>
          </a:xfrm>
          <a:prstGeom prst="ellipse">
            <a:avLst/>
          </a:prstGeom>
          <a:solidFill>
            <a:srgbClr val="569C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9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543800" y="2139696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initialize → initialized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43800" y="237744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negotiation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96228" y="2830068"/>
            <a:ext cx="100584" cy="100584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7523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543800" y="274320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didOpen · didChange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543800" y="298094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tracks the document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396228" y="3433572"/>
            <a:ext cx="100584" cy="100584"/>
          </a:xfrm>
          <a:prstGeom prst="ellipse">
            <a:avLst/>
          </a:prstGeom>
          <a:solidFill>
            <a:srgbClr val="569CD6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0" y="33558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9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543800" y="334670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hover · definition · completion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43800" y="358444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requests answers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96228" y="4037076"/>
            <a:ext cx="100584" cy="100584"/>
          </a:xfrm>
          <a:prstGeom prst="ellipse">
            <a:avLst/>
          </a:prstGeom>
          <a:solidFill>
            <a:srgbClr val="F14C4C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39593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14C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543800" y="395020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publishDiagnostics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543800" y="418795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reports problems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396228" y="4640580"/>
            <a:ext cx="100584" cy="100584"/>
          </a:xfrm>
          <a:prstGeom prst="ellipse">
            <a:avLst/>
          </a:prstGeom>
          <a:solidFill>
            <a:srgbClr val="E5B567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0" y="45628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543800" y="455371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codeAction · formatting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543800" y="4791456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proposes edits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85800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mine: </a:t>
            </a:r>
            <a:pPr indent="0" marL="0">
              <a:buNone/>
            </a:pPr>
            <a:r>
              <a:rPr lang="en-US" sz="15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reproduced that architecture and swapped in a much richer analysis for BIPL.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facts that drive everything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04088" y="10972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trivial imperative programming language … a small fragment of C.”  — softlang/yas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691640"/>
            <a:ext cx="5623560" cy="4160520"/>
          </a:xfrm>
          <a:prstGeom prst="roundRect">
            <a:avLst>
              <a:gd name="adj" fmla="val 109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7532" y="1833372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6" name="Shape 4"/>
          <p:cNvSpPr/>
          <p:nvPr/>
        </p:nvSpPr>
        <p:spPr>
          <a:xfrm>
            <a:off x="955548" y="1833372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7" name="Shape 5"/>
          <p:cNvSpPr/>
          <p:nvPr/>
        </p:nvSpPr>
        <p:spPr>
          <a:xfrm>
            <a:off x="1083564" y="1833372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8" name="Text 6"/>
          <p:cNvSpPr/>
          <p:nvPr/>
        </p:nvSpPr>
        <p:spPr>
          <a:xfrm>
            <a:off x="1289304" y="1746504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division.bipl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13816" y="2093976"/>
            <a:ext cx="536752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2112264"/>
            <a:ext cx="420624" cy="368503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221992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71016" y="2221992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Euclidean division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13232" y="2505456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71016" y="2505456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13232" y="2788920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71016" y="2788920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 = </a:t>
            </a:r>
            <a:pPr algn="l" indent="0" marL="0">
              <a:buNone/>
            </a:pPr>
            <a:r>
              <a:rPr lang="en-US" sz="14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13232" y="3072384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71016" y="3072384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 = x;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13232" y="3355848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271016" y="3355848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algn="l" indent="0" marL="0">
              <a:buNone/>
            </a:pPr>
            <a:r>
              <a:rPr lang="en-US" sz="14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(r 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y) {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13232" y="3639312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71016" y="3639312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 = r 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y;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3232" y="3922776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271016" y="3922776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 = q 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4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13232" y="4206240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271016" y="4206240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3232" y="4489704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271016" y="4489704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72084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BIPL leaves implicit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6720840" y="2505456"/>
            <a:ext cx="0" cy="786384"/>
          </a:xfrm>
          <a:prstGeom prst="line">
            <a:avLst/>
          </a:prstGeom>
          <a:noFill/>
          <a:ln w="31750">
            <a:solidFill>
              <a:srgbClr val="569C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49440" y="246888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declarations.  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never write int x. The editor must infer every type — nobody states it.</a:t>
            </a:r>
            <a:endParaRPr lang="en-US" sz="1450" dirty="0"/>
          </a:p>
        </p:txBody>
      </p:sp>
      <p:sp>
        <p:nvSpPr>
          <p:cNvPr id="32" name="Shape 30"/>
          <p:cNvSpPr/>
          <p:nvPr/>
        </p:nvSpPr>
        <p:spPr>
          <a:xfrm>
            <a:off x="6720840" y="3602736"/>
            <a:ext cx="0" cy="786384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49440" y="356616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boolean literals.  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true / false keyword. Booleans exist only as results of comparisons and &amp;&amp; || !.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6720840" y="4700016"/>
            <a:ext cx="0" cy="786384"/>
          </a:xfrm>
          <a:prstGeom prst="line">
            <a:avLst/>
          </a:prstGeom>
          <a:noFill/>
          <a:ln w="31750">
            <a:solidFill>
              <a:srgbClr val="4FA6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49440" y="466344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live in the store.  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input statement — a program just reads variables already in memory. That is why samples read x without assigning it.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the hood: one analysis, real static semantics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170432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1704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807208" y="1453896"/>
            <a:ext cx="219456" cy="0"/>
          </a:xfrm>
          <a:prstGeom prst="line">
            <a:avLst/>
          </a:prstGeom>
          <a:noFill/>
          <a:ln w="19050">
            <a:solidFill>
              <a:srgbClr val="8A94A3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>
            <a:off x="3044952" y="1170432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4952" y="11704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0" y="1453896"/>
            <a:ext cx="219456" cy="0"/>
          </a:xfrm>
          <a:prstGeom prst="line">
            <a:avLst/>
          </a:prstGeom>
          <a:noFill/>
          <a:ln w="19050">
            <a:solidFill>
              <a:srgbClr val="8A94A3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5266944" y="1170432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66944" y="11704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251192" y="1453896"/>
            <a:ext cx="219456" cy="0"/>
          </a:xfrm>
          <a:prstGeom prst="line">
            <a:avLst/>
          </a:prstGeom>
          <a:noFill/>
          <a:ln w="19050">
            <a:solidFill>
              <a:srgbClr val="8A94A3"/>
            </a:solidFill>
            <a:prstDash val="solid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7488936" y="1170432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88936" y="11704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check +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definite assignment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473184" y="1453896"/>
            <a:ext cx="219456" cy="0"/>
          </a:xfrm>
          <a:prstGeom prst="line">
            <a:avLst/>
          </a:prstGeom>
          <a:noFill/>
          <a:ln w="19050">
            <a:solidFill>
              <a:srgbClr val="8A94A3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9710928" y="1170432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10928" y="11704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AnalysisResult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2011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checking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85800" y="2395728"/>
            <a:ext cx="5257800" cy="1280160"/>
          </a:xfrm>
          <a:prstGeom prst="roundRect">
            <a:avLst>
              <a:gd name="adj" fmla="val 3571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7532" y="2537460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20" name="Shape 18"/>
          <p:cNvSpPr/>
          <p:nvPr/>
        </p:nvSpPr>
        <p:spPr>
          <a:xfrm>
            <a:off x="955548" y="2537460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21" name="Shape 19"/>
          <p:cNvSpPr/>
          <p:nvPr/>
        </p:nvSpPr>
        <p:spPr>
          <a:xfrm>
            <a:off x="1083564" y="2537460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22" name="Text 20"/>
          <p:cNvSpPr/>
          <p:nvPr/>
        </p:nvSpPr>
        <p:spPr>
          <a:xfrm>
            <a:off x="1289304" y="2450592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types.bipl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13816" y="2798064"/>
            <a:ext cx="500176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3232" y="2816352"/>
            <a:ext cx="420624" cy="80467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292608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71016" y="2926080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</a:t>
            </a:r>
            <a:pPr algn="l"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3232" y="320040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71016" y="3200400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</a:t>
            </a:r>
            <a:pPr algn="l"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667256" y="3378708"/>
            <a:ext cx="25603" cy="2108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692859" y="3367010"/>
            <a:ext cx="25603" cy="32782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718462" y="3364114"/>
            <a:ext cx="25603" cy="289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44066" y="3364114"/>
            <a:ext cx="25603" cy="3438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769669" y="3382320"/>
            <a:ext cx="25603" cy="16183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795272" y="3356909"/>
            <a:ext cx="25603" cy="2541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820875" y="3356909"/>
            <a:ext cx="25603" cy="3028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846478" y="3387190"/>
            <a:ext cx="25603" cy="861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872082" y="3360743"/>
            <a:ext cx="25603" cy="35058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897685" y="3360743"/>
            <a:ext cx="25603" cy="1083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23288" y="3371582"/>
            <a:ext cx="25603" cy="2904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948891" y="3373673"/>
            <a:ext cx="25603" cy="26953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1974494" y="3359583"/>
            <a:ext cx="25603" cy="14090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00098" y="3359583"/>
            <a:ext cx="25603" cy="3477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2025701" y="3389153"/>
            <a:ext cx="25603" cy="520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2051304" y="3357267"/>
            <a:ext cx="25603" cy="31886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076907" y="3357267"/>
            <a:ext cx="25603" cy="2289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02510" y="3380158"/>
            <a:ext cx="25603" cy="1918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2128114" y="3365809"/>
            <a:ext cx="25603" cy="3353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59736" y="3200400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14C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can't become bool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85800" y="3840480"/>
            <a:ext cx="5257800" cy="1874520"/>
          </a:xfrm>
          <a:prstGeom prst="roundRect">
            <a:avLst>
              <a:gd name="adj" fmla="val 243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68680" y="3977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9 · WELL-TYPEDNESS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68680" y="42793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⊢ e : T</a:t>
            </a:r>
            <a:pPr indent="0" marL="0">
              <a:buNone/>
            </a:pPr>
            <a:r>
              <a:rPr lang="en-US" sz="12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in context m, expression e has type T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1234440" y="46817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e0 : bool      e1 : T      e2 : 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234440" y="4974336"/>
            <a:ext cx="3383280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0" y="48554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[t-if]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234440" y="50109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(e0) e1 else e2  :  T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868680" y="53492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checker implements this — and completes the operators the YAS Haskell left as “TODO”.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6309360" y="2011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9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Definite assignment</a:t>
            </a:r>
            <a:endParaRPr lang="en-US" sz="1700" dirty="0"/>
          </a:p>
        </p:txBody>
      </p:sp>
      <p:sp>
        <p:nvSpPr>
          <p:cNvPr id="58" name="Text 56"/>
          <p:cNvSpPr/>
          <p:nvPr/>
        </p:nvSpPr>
        <p:spPr>
          <a:xfrm>
            <a:off x="6327648" y="237744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read is safe only if the variable is assigned on every path. An if needs both branches; a while body may run zero times. (A data-flow pass — beyond Ch. 9.)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6309360" y="3200400"/>
            <a:ext cx="5212080" cy="1874520"/>
          </a:xfrm>
          <a:prstGeom prst="roundRect">
            <a:avLst>
              <a:gd name="adj" fmla="val 243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451092" y="3342132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61" name="Shape 59"/>
          <p:cNvSpPr/>
          <p:nvPr/>
        </p:nvSpPr>
        <p:spPr>
          <a:xfrm>
            <a:off x="6579108" y="3342132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07124" y="3342132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63" name="Text 61"/>
          <p:cNvSpPr/>
          <p:nvPr/>
        </p:nvSpPr>
        <p:spPr>
          <a:xfrm>
            <a:off x="6912864" y="32552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flow.bipl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437376" y="3602736"/>
            <a:ext cx="495604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36792" y="3621024"/>
            <a:ext cx="420624" cy="139903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66" name="Text 64"/>
          <p:cNvSpPr/>
          <p:nvPr/>
        </p:nvSpPr>
        <p:spPr>
          <a:xfrm>
            <a:off x="6336792" y="3730752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6894576" y="3730752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(c) y =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68" name="Text 66"/>
          <p:cNvSpPr/>
          <p:nvPr/>
        </p:nvSpPr>
        <p:spPr>
          <a:xfrm>
            <a:off x="6336792" y="3995928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6894576" y="3995928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y;</a:t>
            </a:r>
            <a:endParaRPr lang="en-US" sz="1350" dirty="0"/>
          </a:p>
        </p:txBody>
      </p:sp>
      <p:sp>
        <p:nvSpPr>
          <p:cNvPr id="70" name="Text 68"/>
          <p:cNvSpPr/>
          <p:nvPr/>
        </p:nvSpPr>
        <p:spPr>
          <a:xfrm>
            <a:off x="6336792" y="4261104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6894576" y="4261104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350" dirty="0"/>
          </a:p>
        </p:txBody>
      </p:sp>
      <p:sp>
        <p:nvSpPr>
          <p:cNvPr id="72" name="Text 70"/>
          <p:cNvSpPr/>
          <p:nvPr/>
        </p:nvSpPr>
        <p:spPr>
          <a:xfrm>
            <a:off x="6336792" y="4526280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6894576" y="4526280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(c) v =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74" name="Text 72"/>
          <p:cNvSpPr/>
          <p:nvPr/>
        </p:nvSpPr>
        <p:spPr>
          <a:xfrm>
            <a:off x="6336792" y="4791456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6894576" y="4791456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 = v;</a:t>
            </a:r>
            <a:endParaRPr lang="en-US" sz="1350" dirty="0"/>
          </a:p>
        </p:txBody>
      </p:sp>
      <p:sp>
        <p:nvSpPr>
          <p:cNvPr id="76" name="Shape 74"/>
          <p:cNvSpPr/>
          <p:nvPr/>
        </p:nvSpPr>
        <p:spPr>
          <a:xfrm>
            <a:off x="7306056" y="4181094"/>
            <a:ext cx="25603" cy="21084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7331659" y="4169396"/>
            <a:ext cx="25603" cy="32782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7357262" y="4166500"/>
            <a:ext cx="25603" cy="2897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382866" y="4166500"/>
            <a:ext cx="25603" cy="34389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717536" y="3995928"/>
            <a:ext cx="36758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B5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maybe uninitialized</a:t>
            </a:r>
            <a:endParaRPr lang="en-US" sz="1150" dirty="0"/>
          </a:p>
        </p:txBody>
      </p:sp>
      <p:sp>
        <p:nvSpPr>
          <p:cNvPr id="81" name="Shape 79"/>
          <p:cNvSpPr/>
          <p:nvPr/>
        </p:nvSpPr>
        <p:spPr>
          <a:xfrm>
            <a:off x="7306056" y="4976622"/>
            <a:ext cx="25603" cy="21084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7331659" y="4964924"/>
            <a:ext cx="25603" cy="32782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7357262" y="4962028"/>
            <a:ext cx="25603" cy="2897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382866" y="4962028"/>
            <a:ext cx="25603" cy="34389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717536" y="4791456"/>
            <a:ext cx="36758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B5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maybe uninitialized</a:t>
            </a:r>
            <a:endParaRPr lang="en-US" sz="1150" dirty="0"/>
          </a:p>
        </p:txBody>
      </p:sp>
      <p:sp>
        <p:nvSpPr>
          <p:cNvPr id="86" name="Text 84"/>
          <p:cNvSpPr/>
          <p:nvPr/>
        </p:nvSpPr>
        <p:spPr>
          <a:xfrm>
            <a:off x="6309360" y="52120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result, every feature.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Hover, definition, rename, completion and the outline are all just queries on this.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every unassigned read is a bug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85800" y="11704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BIPL reads its inputs from the store. So a naive “read-before-write = error” rule would flag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factorialV1.bipl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 official sample — as broken.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language would reject its own textbook.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7680960" cy="2788920"/>
          </a:xfrm>
          <a:prstGeom prst="roundRect">
            <a:avLst>
              <a:gd name="adj" fmla="val 163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865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2752344"/>
            <a:ext cx="7406640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14C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✖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44168" y="295351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4C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788920" y="29535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type-error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34640" y="322783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 must be boolean; a variable can't change type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41832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4168" y="3611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788920" y="3611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maybe-uninitialized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34640" y="3886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assigned somewhere, but not on every path to this read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418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FA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44168" y="42702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A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788920" y="42702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input-variable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834640" y="454456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assigned anywhere → a program input; this is fine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686800" y="25146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</a:t>
            </a:r>
            <a:endParaRPr lang="en-US" sz="6600" dirty="0"/>
          </a:p>
        </p:txBody>
      </p:sp>
      <p:sp>
        <p:nvSpPr>
          <p:cNvPr id="20" name="Text 18"/>
          <p:cNvSpPr/>
          <p:nvPr/>
        </p:nvSpPr>
        <p:spPr>
          <a:xfrm>
            <a:off x="8686800" y="3520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YAS samples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 with zero errors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686800" y="43434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and a test locks it in,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it can never regress.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5257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Telling a genuine bug apart from a legitimate input — that is the real work here.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— in action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7406640" cy="3063240"/>
          </a:xfrm>
          <a:prstGeom prst="roundRect">
            <a:avLst>
              <a:gd name="adj" fmla="val 1493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" y="1376172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5" name="Shape 3"/>
          <p:cNvSpPr/>
          <p:nvPr/>
        </p:nvSpPr>
        <p:spPr>
          <a:xfrm>
            <a:off x="955548" y="1376172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3564" y="1376172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7" name="Text 5"/>
          <p:cNvSpPr/>
          <p:nvPr/>
        </p:nvSpPr>
        <p:spPr>
          <a:xfrm>
            <a:off x="1289304" y="128930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bad.bipl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13816" y="1636776"/>
            <a:ext cx="715060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1655064"/>
            <a:ext cx="420624" cy="258775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76479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271016" y="1764792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13232" y="2057400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271016" y="2057400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x =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13232" y="235000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71016" y="2350008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algn="l" indent="0" marL="0">
              <a:buNone/>
            </a:pPr>
            <a:r>
              <a:rPr lang="en-US" sz="13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(x) y =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3232" y="2642616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271016" y="2642616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z = y 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13232" y="2935224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271016" y="2935224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 = (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13232" y="322783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271016" y="3227832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1888236" y="2535174"/>
            <a:ext cx="25603" cy="2108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913839" y="2523476"/>
            <a:ext cx="25603" cy="32782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939442" y="2520580"/>
            <a:ext cx="25603" cy="289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65046" y="2520580"/>
            <a:ext cx="25603" cy="3438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19806" y="2350008"/>
            <a:ext cx="49446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14C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condition must be boolean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1888236" y="2827782"/>
            <a:ext cx="25603" cy="21084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1913839" y="2816084"/>
            <a:ext cx="25603" cy="32782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1939442" y="2813188"/>
            <a:ext cx="25603" cy="2897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65046" y="2813188"/>
            <a:ext cx="25603" cy="34389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11196" y="2642616"/>
            <a:ext cx="52532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B5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maybe uninitialized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1888236" y="3120390"/>
            <a:ext cx="25603" cy="2108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913839" y="3108692"/>
            <a:ext cx="25603" cy="32782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939442" y="3105796"/>
            <a:ext cx="25603" cy="289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65046" y="3105796"/>
            <a:ext cx="25603" cy="3438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1990649" y="3124002"/>
            <a:ext cx="25603" cy="16183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2016252" y="3098591"/>
            <a:ext cx="25603" cy="2541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41855" y="3098591"/>
            <a:ext cx="25603" cy="3028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67458" y="3128872"/>
            <a:ext cx="25603" cy="861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2093062" y="3102425"/>
            <a:ext cx="25603" cy="35058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118665" y="3102425"/>
            <a:ext cx="25603" cy="1083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44268" y="3113264"/>
            <a:ext cx="25603" cy="2904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2169871" y="3115355"/>
            <a:ext cx="25603" cy="26953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2195474" y="3101265"/>
            <a:ext cx="25603" cy="14090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221078" y="3101265"/>
            <a:ext cx="25603" cy="3477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2246681" y="3130835"/>
            <a:ext cx="25603" cy="520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2272284" y="3098949"/>
            <a:ext cx="25603" cy="31886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297887" y="3098949"/>
            <a:ext cx="25603" cy="2289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323490" y="3121840"/>
            <a:ext cx="25603" cy="1918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2349094" y="3107491"/>
            <a:ext cx="25603" cy="3353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2374697" y="3106911"/>
            <a:ext cx="25603" cy="580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400300" y="3106911"/>
            <a:ext cx="25603" cy="3385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2425903" y="3122564"/>
            <a:ext cx="25603" cy="1820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2451506" y="3098806"/>
            <a:ext cx="25603" cy="2375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477110" y="3098806"/>
            <a:ext cx="25603" cy="3138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502713" y="3130191"/>
            <a:ext cx="25603" cy="634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2528316" y="3101631"/>
            <a:ext cx="25603" cy="3490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553919" y="3101631"/>
            <a:ext cx="25603" cy="1302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579522" y="3114652"/>
            <a:ext cx="25603" cy="2768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28416" y="2935224"/>
            <a:ext cx="4636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14C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'+' expects integers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685800" y="4434840"/>
            <a:ext cx="7406640" cy="502920"/>
          </a:xfrm>
          <a:prstGeom prst="roundRect">
            <a:avLst>
              <a:gd name="adj" fmla="val 7273"/>
            </a:avLst>
          </a:prstGeom>
          <a:solidFill>
            <a:srgbClr val="20262F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14400" y="44348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  </a:t>
            </a:r>
            <a:pPr indent="0" marL="0">
              <a:buNone/>
            </a:pPr>
            <a:r>
              <a:rPr lang="en-US" sz="1300" dirty="0">
                <a:solidFill>
                  <a:srgbClr val="F14C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✖ 3 errors    </a:t>
            </a:r>
            <a:pPr indent="0" marL="0">
              <a:buNone/>
            </a:pPr>
            <a:r>
              <a:rPr lang="en-US" sz="1300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2 warnings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366760" y="1280160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36676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5" name="Text 63"/>
          <p:cNvSpPr/>
          <p:nvPr/>
        </p:nvSpPr>
        <p:spPr>
          <a:xfrm>
            <a:off x="8869680" y="123444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good.bipl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input hints; hover shows types inferred from use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8366760" y="2249424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66760" y="2249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68" name="Text 66"/>
          <p:cNvSpPr/>
          <p:nvPr/>
        </p:nvSpPr>
        <p:spPr>
          <a:xfrm>
            <a:off x="8869680" y="2203704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bad.bipl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type errors + 2 data-flow warnings, live</a:t>
            </a:r>
            <a:endParaRPr lang="en-US" sz="1350" dirty="0"/>
          </a:p>
        </p:txBody>
      </p:sp>
      <p:sp>
        <p:nvSpPr>
          <p:cNvPr id="69" name="Shape 67"/>
          <p:cNvSpPr/>
          <p:nvPr/>
        </p:nvSpPr>
        <p:spPr>
          <a:xfrm>
            <a:off x="8366760" y="3218688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36676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71" name="Text 69"/>
          <p:cNvSpPr/>
          <p:nvPr/>
        </p:nvSpPr>
        <p:spPr>
          <a:xfrm>
            <a:off x="8869680" y="3172968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hover · go-to-definition · find references</a:t>
            </a:r>
            <a:endParaRPr lang="en-US" sz="1350" dirty="0"/>
          </a:p>
        </p:txBody>
      </p:sp>
      <p:sp>
        <p:nvSpPr>
          <p:cNvPr id="72" name="Shape 70"/>
          <p:cNvSpPr/>
          <p:nvPr/>
        </p:nvSpPr>
        <p:spPr>
          <a:xfrm>
            <a:off x="8366760" y="4187952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366760" y="4187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74" name="Text 72"/>
          <p:cNvSpPr/>
          <p:nvPr/>
        </p:nvSpPr>
        <p:spPr>
          <a:xfrm>
            <a:off x="8869680" y="414223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F2 rename (rejects invalid names) · quick fix</a:t>
            </a:r>
            <a:endParaRPr lang="en-US" sz="1350" dirty="0"/>
          </a:p>
        </p:txBody>
      </p:sp>
      <p:sp>
        <p:nvSpPr>
          <p:cNvPr id="75" name="Shape 73"/>
          <p:cNvSpPr/>
          <p:nvPr/>
        </p:nvSpPr>
        <p:spPr>
          <a:xfrm>
            <a:off x="8366760" y="5157216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366760" y="5157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77" name="Text 75"/>
          <p:cNvSpPr/>
          <p:nvPr/>
        </p:nvSpPr>
        <p:spPr>
          <a:xfrm>
            <a:off x="8869680" y="5111496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typing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factorial, watch diagnostics move as you type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&amp; loose ends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04088" y="10972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had to solve — and what I deliberately left open.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Solved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2221992"/>
            <a:ext cx="0" cy="658368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945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vs. bugs.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naive rule broke the samples → three severities + an “assigned-anywhere” pre-pass.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13232" y="3136392"/>
            <a:ext cx="0" cy="658368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1089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without declarations.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Demand-driven inference: a constrained use (i &lt;= x) pins the type.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13232" y="4050792"/>
            <a:ext cx="0" cy="658368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0233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 the checker.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YAS TypeChecker.hs ended at “TODO”; I implemented the full operator set.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13232" y="4965192"/>
            <a:ext cx="0" cy="658368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377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Stayed useful while broken.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recovery: skip to the next ; or } so half-typed code still analyses.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309360" y="1691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Left open (on purpose)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336792" y="2221992"/>
            <a:ext cx="0" cy="914400"/>
          </a:xfrm>
          <a:prstGeom prst="line">
            <a:avLst/>
          </a:prstGeom>
          <a:noFill/>
          <a:ln w="31750">
            <a:solidFill>
              <a:srgbClr val="E5B56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2194560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full type unification.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variable used only neutrally (r = x) stays unknown — I infer from constrained uses only.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336792" y="3429000"/>
            <a:ext cx="0" cy="914400"/>
          </a:xfrm>
          <a:prstGeom prst="line">
            <a:avLst/>
          </a:prstGeom>
          <a:noFill/>
          <a:ln w="31750">
            <a:solidFill>
              <a:srgbClr val="E5B56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3401568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Re-analysis per keystroke.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Whole-document, not incremental. Linear and instant at BIPL's scale; wouldn't scale to big files.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336792" y="4636008"/>
            <a:ext cx="0" cy="914400"/>
          </a:xfrm>
          <a:prstGeom prst="line">
            <a:avLst/>
          </a:prstGeom>
          <a:noFill/>
          <a:ln w="31750">
            <a:solidFill>
              <a:srgbClr val="E5B56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460857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Fidelity vs. usability.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Relaxed the Haskell checker's both-branches-equal rule, and accept the conventional identifier shape (a superset of ls.term).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to remember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85800" y="173736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463040" y="1773936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LSP decouples smartness from the editor.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Python analysis serves any LSP editor; the VS Code client is 30 lines.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97180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463040" y="3008376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language is not trivial tooling.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statements still forced type inference without declarations and branch-sensitive data flow.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420624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463040" y="4242816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language's own samples were the spec.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told me inputs aren't errors — and now they guard that decision as tests. This is the FSML lecture demo, extended to a harder language.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85800" y="5806440"/>
            <a:ext cx="10835640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· tests · demo files   </a:t>
            </a:r>
            <a:pPr indent="0" marL="0">
              <a:buNone/>
            </a:pPr>
            <a:r>
              <a:rPr lang="en-US" sz="14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github.com/VivekanandaReddy3/sle-bipl-lsp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2026-07-13T09:49:16Z</dcterms:created>
  <dcterms:modified xsi:type="dcterms:W3CDTF">2026-07-13T09:49:16Z</dcterms:modified>
</cp:coreProperties>
</file>