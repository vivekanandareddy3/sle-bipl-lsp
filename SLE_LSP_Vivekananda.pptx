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66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bipl-lsp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58368" y="11887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Editing BIPL, properly.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685800" y="23317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LSP language server for a language from the Software Languages Book.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3200400"/>
            <a:ext cx="6766560" cy="1874520"/>
          </a:xfrm>
          <a:prstGeom prst="roundRect">
            <a:avLst>
              <a:gd name="adj" fmla="val 2439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" y="3342132"/>
            <a:ext cx="82296" cy="82296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7" name="Shape 5"/>
          <p:cNvSpPr/>
          <p:nvPr/>
        </p:nvSpPr>
        <p:spPr>
          <a:xfrm>
            <a:off x="955548" y="3342132"/>
            <a:ext cx="82296" cy="82296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1083564" y="3342132"/>
            <a:ext cx="82296" cy="82296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9" name="Text 7"/>
          <p:cNvSpPr/>
          <p:nvPr/>
        </p:nvSpPr>
        <p:spPr>
          <a:xfrm>
            <a:off x="1289304" y="3255264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A9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factorialV1.bipl  —  softlang/yas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13816" y="3602736"/>
            <a:ext cx="6510528" cy="0"/>
          </a:xfrm>
          <a:prstGeom prst="line">
            <a:avLst/>
          </a:prstGeom>
          <a:noFill/>
          <a:ln w="9525">
            <a:solidFill>
              <a:srgbClr val="2C333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13232" y="3621024"/>
            <a:ext cx="420624" cy="1399032"/>
          </a:xfrm>
          <a:prstGeom prst="rect">
            <a:avLst/>
          </a:prstGeom>
          <a:solidFill>
            <a:srgbClr val="161A20"/>
          </a:solidFill>
          <a:ln/>
        </p:spPr>
      </p:sp>
      <p:sp>
        <p:nvSpPr>
          <p:cNvPr id="12" name="Text 10"/>
          <p:cNvSpPr/>
          <p:nvPr/>
        </p:nvSpPr>
        <p:spPr>
          <a:xfrm>
            <a:off x="713232" y="3730752"/>
            <a:ext cx="329184" cy="270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271016" y="3730752"/>
            <a:ext cx="5980176" cy="270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pPr algn="l" indent="0" marL="0"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(i </a:t>
            </a:r>
            <a:pPr algn="l" indent="0" marL="0"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pPr algn="l" indent="0" marL="0"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x) {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13232" y="4001262"/>
            <a:ext cx="329184" cy="270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71016" y="4001262"/>
            <a:ext cx="5980176" cy="270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y = y </a:t>
            </a:r>
            <a:pPr algn="l" indent="0" marL="0"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algn="l" indent="0" marL="0"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i;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13232" y="4271772"/>
            <a:ext cx="329184" cy="270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71016" y="4271772"/>
            <a:ext cx="5980176" cy="270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2642616" y="3936492"/>
            <a:ext cx="25603" cy="21084"/>
          </a:xfrm>
          <a:prstGeom prst="line">
            <a:avLst/>
          </a:prstGeom>
          <a:noFill/>
          <a:ln w="15875">
            <a:solidFill>
              <a:srgbClr val="4FA6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2668219" y="3924794"/>
            <a:ext cx="25603" cy="32782"/>
          </a:xfrm>
          <a:prstGeom prst="line">
            <a:avLst/>
          </a:prstGeom>
          <a:noFill/>
          <a:ln w="15875">
            <a:solidFill>
              <a:srgbClr val="4FA6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2693822" y="3921898"/>
            <a:ext cx="25603" cy="2897"/>
          </a:xfrm>
          <a:prstGeom prst="line">
            <a:avLst/>
          </a:prstGeom>
          <a:noFill/>
          <a:ln w="15875">
            <a:solidFill>
              <a:srgbClr val="4FA6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719426" y="3921898"/>
            <a:ext cx="25603" cy="34389"/>
          </a:xfrm>
          <a:prstGeom prst="line">
            <a:avLst/>
          </a:prstGeom>
          <a:noFill/>
          <a:ln w="15875">
            <a:solidFill>
              <a:srgbClr val="4FA6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28416" y="3730752"/>
            <a:ext cx="3995928" cy="270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FA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: int · inferred program input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" y="5989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Vivekananda Reddy Godala</a:t>
            </a:r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SLE Assignment 3 · Option LSP.2 · Prof. Ralf Lämmel · 2026-07-13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955280" y="342900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claim: </a:t>
            </a:r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five statements hide two real language problems.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assignment — and what I claimed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85800" y="13716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LSP.2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 LSP editor for a recurring language in the Software Languages Book (YAS).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13232" y="2697480"/>
            <a:ext cx="0" cy="1051560"/>
          </a:xfrm>
          <a:prstGeom prst="line">
            <a:avLst/>
          </a:prstGeom>
          <a:noFill/>
          <a:ln w="31750">
            <a:solidFill>
              <a:srgbClr val="E5B56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69748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bar the assignment sets
</a:t>
            </a:r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“We need to see an </a:t>
            </a:r>
            <a:pPr indent="0" marL="0">
              <a:lnSpc>
                <a:spcPct val="115000"/>
              </a:lnSpc>
              <a:buNone/>
            </a:pPr>
            <a:r>
              <a:rPr lang="en-US" sz="1800" b="1" i="1" dirty="0">
                <a:solidFill>
                  <a:srgbClr val="E5B5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interesting</a:t>
            </a:r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LSP server and client.”</a:t>
            </a:r>
            <a:pPr indent="0" marL="0">
              <a:lnSpc>
                <a:spcPct val="115000"/>
              </a:lnSpc>
              <a:buNone/>
            </a:pP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R. Lämmel, assignment post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85800" y="416052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i="1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the whole game is: pick a language where the analysis is genuinely non-trivial.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0" y="1371600"/>
            <a:ext cx="5120640" cy="3611880"/>
          </a:xfrm>
          <a:prstGeom prst="roundRect">
            <a:avLst>
              <a:gd name="adj" fmla="val 1519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29400" y="15361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CLAIM  ·  OLAT, 23 Jun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29400" y="1874520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chose </a:t>
            </a:r>
            <a:pPr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BIPL</a:t>
            </a:r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small, but with real static semantics worth tooling: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743700" y="2674620"/>
            <a:ext cx="82296" cy="82296"/>
          </a:xfrm>
          <a:prstGeom prst="ellipse">
            <a:avLst/>
          </a:prstGeom>
          <a:solidFill>
            <a:srgbClr val="4EC9B0"/>
          </a:solidFill>
          <a:ln/>
        </p:spPr>
      </p:sp>
      <p:sp>
        <p:nvSpPr>
          <p:cNvPr id="12" name="Text 10"/>
          <p:cNvSpPr/>
          <p:nvPr/>
        </p:nvSpPr>
        <p:spPr>
          <a:xfrm>
            <a:off x="6949440" y="26060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consistency  </a:t>
            </a:r>
            <a:pPr indent="0" marL="0">
              <a:buNone/>
            </a:pPr>
            <a:r>
              <a:rPr lang="en-US" sz="13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arithmetic vs. boolean; conditions must be boolean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743700" y="3223260"/>
            <a:ext cx="82296" cy="82296"/>
          </a:xfrm>
          <a:prstGeom prst="ellipse">
            <a:avLst/>
          </a:prstGeom>
          <a:solidFill>
            <a:srgbClr val="4EC9B0"/>
          </a:solidFill>
          <a:ln/>
        </p:spPr>
      </p:sp>
      <p:sp>
        <p:nvSpPr>
          <p:cNvPr id="14" name="Text 12"/>
          <p:cNvSpPr/>
          <p:nvPr/>
        </p:nvSpPr>
        <p:spPr>
          <a:xfrm>
            <a:off x="6949440" y="31546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definite assignment  </a:t>
            </a:r>
            <a:pPr indent="0" marL="0">
              <a:buNone/>
            </a:pPr>
            <a:r>
              <a:rPr lang="en-US" sz="13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a variable shouldn't be read before it is assigned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629400" y="374904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“Diagnostics from an actual analysis — not keyword matching.”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629400" y="4224528"/>
            <a:ext cx="4663440" cy="0"/>
          </a:xfrm>
          <a:prstGeom prst="line">
            <a:avLst/>
          </a:prstGeom>
          <a:noFill/>
          <a:ln w="9525">
            <a:solidFill>
              <a:srgbClr val="2C33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29400" y="4370832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Confirmed  </a:t>
            </a:r>
            <a:pPr indent="0" marL="0">
              <a:buNone/>
            </a:pPr>
            <a:r>
              <a:rPr lang="en-US" sz="13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“Yes, BIPL is a good choice.” — RL, 6 Jul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Approach: reuse the lecture's LSP setup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04088" y="10789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stack the LSP lecture demoed for FSML: a </a:t>
            </a:r>
            <a:pPr indent="0" marL="0">
              <a:buNone/>
            </a:pPr>
            <a:r>
              <a:rPr lang="en-US" sz="15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pygls</a:t>
            </a:r>
            <a:pPr indent="0" marL="0">
              <a:buNone/>
            </a:pPr>
            <a:r>
              <a:rPr lang="en-US" sz="15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server + a VS Code client, talking </a:t>
            </a:r>
            <a:pPr indent="0" marL="0">
              <a:buNone/>
            </a:pPr>
            <a:r>
              <a:rPr lang="en-US" sz="15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JSON-RPC</a:t>
            </a:r>
            <a:pPr indent="0" marL="0">
              <a:buNone/>
            </a:pPr>
            <a:r>
              <a:rPr lang="en-US" sz="15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over stdio.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85800" y="17373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request on the wire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5074920" cy="1600200"/>
          </a:xfrm>
          <a:prstGeom prst="roundRect">
            <a:avLst>
              <a:gd name="adj" fmla="val 2857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286000"/>
            <a:ext cx="4754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"jsonrpc"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"2.0"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"id"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"method"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"textDocument/hover"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"params"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"position"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"line"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"character"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}
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85800" y="384048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“what's at line 0, column 12?” → the server answers from its analysis.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263640" y="1737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session lifecycle (from the lecture)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46520" y="2212848"/>
            <a:ext cx="0" cy="2788920"/>
          </a:xfrm>
          <a:prstGeom prst="line">
            <a:avLst/>
          </a:prstGeom>
          <a:noFill/>
          <a:ln w="19050">
            <a:solidFill>
              <a:srgbClr val="2C3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96228" y="2226564"/>
            <a:ext cx="100584" cy="100584"/>
          </a:xfrm>
          <a:prstGeom prst="ellipse">
            <a:avLst/>
          </a:prstGeom>
          <a:solidFill>
            <a:srgbClr val="569CD6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1488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69C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543800" y="2139696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7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initialize → initialized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543800" y="237744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capability negotiation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396228" y="2830068"/>
            <a:ext cx="100584" cy="100584"/>
          </a:xfrm>
          <a:prstGeom prst="ellipse">
            <a:avLst/>
          </a:prstGeom>
          <a:solidFill>
            <a:srgbClr val="4EC9B0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27523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Sync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543800" y="274320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7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didOpen · didChange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543800" y="2980944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tracks the document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396228" y="3433572"/>
            <a:ext cx="100584" cy="100584"/>
          </a:xfrm>
          <a:prstGeom prst="ellipse">
            <a:avLst/>
          </a:prstGeom>
          <a:solidFill>
            <a:srgbClr val="569CD6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0" y="33558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69C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543800" y="3346704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7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hover · definition · completion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543800" y="3584448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requests answers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396228" y="4037076"/>
            <a:ext cx="100584" cy="100584"/>
          </a:xfrm>
          <a:prstGeom prst="ellipse">
            <a:avLst/>
          </a:prstGeom>
          <a:solidFill>
            <a:srgbClr val="F14C4C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0" y="39593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14C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543800" y="3950208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7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publishDiagnostics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543800" y="4187952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reports problems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396228" y="4640580"/>
            <a:ext cx="100584" cy="100584"/>
          </a:xfrm>
          <a:prstGeom prst="ellipse">
            <a:avLst/>
          </a:prstGeom>
          <a:solidFill>
            <a:srgbClr val="E5B567"/>
          </a:solidFill>
          <a:ln/>
        </p:spPr>
      </p:sp>
      <p:sp>
        <p:nvSpPr>
          <p:cNvPr id="27" name="Text 25"/>
          <p:cNvSpPr/>
          <p:nvPr/>
        </p:nvSpPr>
        <p:spPr>
          <a:xfrm>
            <a:off x="6675120" y="45628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5B5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7543800" y="4553712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7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codeAction · formatting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543800" y="4791456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proposes edits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85800" y="52578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mine: </a:t>
            </a:r>
            <a:pPr indent="0" marL="0">
              <a:buNone/>
            </a:pPr>
            <a:r>
              <a:rPr lang="en-US" sz="1550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reproduced that architecture and swapped in a much richer analysis for BIPL.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idea: why BIPL is interesting to tool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04088" y="109728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 trivial imperative programming language … a small fragment of C.”  — softlang/yas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691640"/>
            <a:ext cx="5623560" cy="4160520"/>
          </a:xfrm>
          <a:prstGeom prst="roundRect">
            <a:avLst>
              <a:gd name="adj" fmla="val 1099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7532" y="1833372"/>
            <a:ext cx="82296" cy="82296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6" name="Shape 4"/>
          <p:cNvSpPr/>
          <p:nvPr/>
        </p:nvSpPr>
        <p:spPr>
          <a:xfrm>
            <a:off x="955548" y="1833372"/>
            <a:ext cx="82296" cy="82296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7" name="Shape 5"/>
          <p:cNvSpPr/>
          <p:nvPr/>
        </p:nvSpPr>
        <p:spPr>
          <a:xfrm>
            <a:off x="1083564" y="1833372"/>
            <a:ext cx="82296" cy="82296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8" name="Text 6"/>
          <p:cNvSpPr/>
          <p:nvPr/>
        </p:nvSpPr>
        <p:spPr>
          <a:xfrm>
            <a:off x="1289304" y="1746504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A9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division.bipl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813816" y="2093976"/>
            <a:ext cx="5367528" cy="0"/>
          </a:xfrm>
          <a:prstGeom prst="line">
            <a:avLst/>
          </a:prstGeom>
          <a:noFill/>
          <a:ln w="9525">
            <a:solidFill>
              <a:srgbClr val="2C3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13232" y="2112264"/>
            <a:ext cx="420624" cy="3685032"/>
          </a:xfrm>
          <a:prstGeom prst="rect">
            <a:avLst/>
          </a:prstGeom>
          <a:solidFill>
            <a:srgbClr val="161A20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" y="2221992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271016" y="2221992"/>
            <a:ext cx="48371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Euclidean division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13232" y="2505456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271016" y="2505456"/>
            <a:ext cx="48371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13232" y="2788920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271016" y="2788920"/>
            <a:ext cx="48371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q = </a:t>
            </a:r>
            <a:pPr algn="l" indent="0" marL="0">
              <a:buNone/>
            </a:pPr>
            <a:r>
              <a:rPr lang="en-US" sz="14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13232" y="3072384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71016" y="3072384"/>
            <a:ext cx="48371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 = x;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13232" y="3355848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271016" y="3355848"/>
            <a:ext cx="48371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algn="l" indent="0" marL="0">
              <a:buNone/>
            </a:pPr>
            <a:r>
              <a:rPr lang="en-US" sz="14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(r </a:t>
            </a:r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&gt;=</a:t>
            </a:r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y) {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13232" y="3639312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271016" y="3639312"/>
            <a:ext cx="48371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 = r </a:t>
            </a:r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y;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13232" y="3922776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271016" y="3922776"/>
            <a:ext cx="48371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 = q </a:t>
            </a:r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buNone/>
            </a:pPr>
            <a:r>
              <a:rPr lang="en-US" sz="14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13232" y="4206240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271016" y="4206240"/>
            <a:ext cx="48371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13232" y="4489704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271016" y="4489704"/>
            <a:ext cx="48371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720840" y="17830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facts make it interesting to tool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6720840" y="2505456"/>
            <a:ext cx="0" cy="786384"/>
          </a:xfrm>
          <a:prstGeom prst="line">
            <a:avLst/>
          </a:prstGeom>
          <a:noFill/>
          <a:ln w="31750">
            <a:solidFill>
              <a:srgbClr val="569C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49440" y="246888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declarations.  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never write int x. The editor must infer every type — nobody states it.</a:t>
            </a:r>
            <a:endParaRPr lang="en-US" sz="1450" dirty="0"/>
          </a:p>
        </p:txBody>
      </p:sp>
      <p:sp>
        <p:nvSpPr>
          <p:cNvPr id="32" name="Shape 30"/>
          <p:cNvSpPr/>
          <p:nvPr/>
        </p:nvSpPr>
        <p:spPr>
          <a:xfrm>
            <a:off x="6720840" y="3602736"/>
            <a:ext cx="0" cy="786384"/>
          </a:xfrm>
          <a:prstGeom prst="line">
            <a:avLst/>
          </a:prstGeom>
          <a:noFill/>
          <a:ln w="31750">
            <a:solidFill>
              <a:srgbClr val="4EC9B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49440" y="356616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boolean literals.  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true / false keyword. Booleans exist only as results of comparisons and &amp;&amp; || !.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6720840" y="4700016"/>
            <a:ext cx="0" cy="786384"/>
          </a:xfrm>
          <a:prstGeom prst="line">
            <a:avLst/>
          </a:prstGeom>
          <a:noFill/>
          <a:ln w="31750">
            <a:solidFill>
              <a:srgbClr val="4FA6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949440" y="466344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 live in the store.  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input statement — a program just reads variables already in memory. That is why samples read x without assigning it.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the hood: one analysis, real static semantics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170432"/>
            <a:ext cx="1965960" cy="566928"/>
          </a:xfrm>
          <a:prstGeom prst="roundRect">
            <a:avLst>
              <a:gd name="adj" fmla="val 9677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170432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D7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807208" y="1453896"/>
            <a:ext cx="219456" cy="0"/>
          </a:xfrm>
          <a:prstGeom prst="line">
            <a:avLst/>
          </a:prstGeom>
          <a:noFill/>
          <a:ln w="19050">
            <a:solidFill>
              <a:srgbClr val="8A94A3"/>
            </a:solidFill>
            <a:prstDash val="solid"/>
            <a:tailEnd type="arrow"/>
          </a:ln>
        </p:spPr>
      </p:sp>
      <p:sp>
        <p:nvSpPr>
          <p:cNvPr id="6" name="Shape 4"/>
          <p:cNvSpPr/>
          <p:nvPr/>
        </p:nvSpPr>
        <p:spPr>
          <a:xfrm>
            <a:off x="3044952" y="1170432"/>
            <a:ext cx="1965960" cy="566928"/>
          </a:xfrm>
          <a:prstGeom prst="roundRect">
            <a:avLst>
              <a:gd name="adj" fmla="val 9677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4952" y="1170432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D7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0" y="1453896"/>
            <a:ext cx="219456" cy="0"/>
          </a:xfrm>
          <a:prstGeom prst="line">
            <a:avLst/>
          </a:prstGeom>
          <a:noFill/>
          <a:ln w="19050">
            <a:solidFill>
              <a:srgbClr val="8A94A3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5266944" y="1170432"/>
            <a:ext cx="1965960" cy="566928"/>
          </a:xfrm>
          <a:prstGeom prst="roundRect">
            <a:avLst>
              <a:gd name="adj" fmla="val 9677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66944" y="1170432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D7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251192" y="1453896"/>
            <a:ext cx="219456" cy="0"/>
          </a:xfrm>
          <a:prstGeom prst="line">
            <a:avLst/>
          </a:prstGeom>
          <a:noFill/>
          <a:ln w="19050">
            <a:solidFill>
              <a:srgbClr val="8A94A3"/>
            </a:solidFill>
            <a:prstDash val="solid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7488936" y="1170432"/>
            <a:ext cx="1965960" cy="566928"/>
          </a:xfrm>
          <a:prstGeom prst="roundRect">
            <a:avLst>
              <a:gd name="adj" fmla="val 9677"/>
            </a:avLst>
          </a:prstGeom>
          <a:solidFill>
            <a:srgbClr val="20262F"/>
          </a:solidFill>
          <a:ln w="12700">
            <a:solidFill>
              <a:srgbClr val="4EC9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88936" y="1170432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 check +</a:t>
            </a:r>
            <a:endParaRPr lang="en-US" sz="10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definite assignment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9473184" y="1453896"/>
            <a:ext cx="219456" cy="0"/>
          </a:xfrm>
          <a:prstGeom prst="line">
            <a:avLst/>
          </a:prstGeom>
          <a:noFill/>
          <a:ln w="19050">
            <a:solidFill>
              <a:srgbClr val="8A94A3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>
            <a:off x="9710928" y="1170432"/>
            <a:ext cx="1965960" cy="566928"/>
          </a:xfrm>
          <a:prstGeom prst="roundRect">
            <a:avLst>
              <a:gd name="adj" fmla="val 9677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10928" y="1170432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D7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AnalysisResult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85800" y="20116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checking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85800" y="2395728"/>
            <a:ext cx="5257800" cy="1280160"/>
          </a:xfrm>
          <a:prstGeom prst="roundRect">
            <a:avLst>
              <a:gd name="adj" fmla="val 3571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7532" y="2537460"/>
            <a:ext cx="82296" cy="82296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20" name="Shape 18"/>
          <p:cNvSpPr/>
          <p:nvPr/>
        </p:nvSpPr>
        <p:spPr>
          <a:xfrm>
            <a:off x="955548" y="2537460"/>
            <a:ext cx="82296" cy="82296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21" name="Shape 19"/>
          <p:cNvSpPr/>
          <p:nvPr/>
        </p:nvSpPr>
        <p:spPr>
          <a:xfrm>
            <a:off x="1083564" y="2537460"/>
            <a:ext cx="82296" cy="82296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22" name="Text 20"/>
          <p:cNvSpPr/>
          <p:nvPr/>
        </p:nvSpPr>
        <p:spPr>
          <a:xfrm>
            <a:off x="1289304" y="2450592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A9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types.bipl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13816" y="2798064"/>
            <a:ext cx="5001768" cy="0"/>
          </a:xfrm>
          <a:prstGeom prst="line">
            <a:avLst/>
          </a:prstGeom>
          <a:noFill/>
          <a:ln w="9525">
            <a:solidFill>
              <a:srgbClr val="2C333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3232" y="2816352"/>
            <a:ext cx="420624" cy="804672"/>
          </a:xfrm>
          <a:prstGeom prst="rect">
            <a:avLst/>
          </a:prstGeom>
          <a:solidFill>
            <a:srgbClr val="161A20"/>
          </a:solidFill>
          <a:ln/>
        </p:spPr>
      </p:sp>
      <p:sp>
        <p:nvSpPr>
          <p:cNvPr id="25" name="Text 23"/>
          <p:cNvSpPr/>
          <p:nvPr/>
        </p:nvSpPr>
        <p:spPr>
          <a:xfrm>
            <a:off x="713232" y="292608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271016" y="2926080"/>
            <a:ext cx="4471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</a:t>
            </a:r>
            <a:pPr algn="l"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pPr algn="l" indent="0" marL="0">
              <a:buNone/>
            </a:pPr>
            <a:r>
              <a:rPr lang="en-US" sz="13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13232" y="320040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71016" y="3200400"/>
            <a:ext cx="4471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</a:t>
            </a:r>
            <a:pPr algn="l"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algn="l" indent="0" marL="0">
              <a:buNone/>
            </a:pPr>
            <a:r>
              <a:rPr lang="en-US" sz="13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buNone/>
            </a:pPr>
            <a:r>
              <a:rPr lang="en-US" sz="13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algn="l" indent="0" marL="0">
              <a:buNone/>
            </a:pPr>
            <a:r>
              <a:rPr lang="en-US" sz="13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algn="l" indent="0" marL="0">
              <a:buNone/>
            </a:pPr>
            <a:r>
              <a:rPr lang="en-US" sz="13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1667256" y="3378708"/>
            <a:ext cx="25603" cy="21084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1692859" y="3367010"/>
            <a:ext cx="25603" cy="32782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1718462" y="3364114"/>
            <a:ext cx="25603" cy="2897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744066" y="3364114"/>
            <a:ext cx="25603" cy="34389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1769669" y="3382320"/>
            <a:ext cx="25603" cy="16183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1795272" y="3356909"/>
            <a:ext cx="25603" cy="2541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820875" y="3356909"/>
            <a:ext cx="25603" cy="3028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846478" y="3387190"/>
            <a:ext cx="25603" cy="861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1872082" y="3360743"/>
            <a:ext cx="25603" cy="35058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897685" y="3360743"/>
            <a:ext cx="25603" cy="10839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23288" y="3371582"/>
            <a:ext cx="25603" cy="29044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1948891" y="3373673"/>
            <a:ext cx="25603" cy="26953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1974494" y="3359583"/>
            <a:ext cx="25603" cy="14090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00098" y="3359583"/>
            <a:ext cx="25603" cy="3477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2025701" y="3389153"/>
            <a:ext cx="25603" cy="520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2051304" y="3357267"/>
            <a:ext cx="25603" cy="31886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076907" y="3357267"/>
            <a:ext cx="25603" cy="2289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102510" y="3380158"/>
            <a:ext cx="25603" cy="19185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2128114" y="3365809"/>
            <a:ext cx="25603" cy="33535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59736" y="3200400"/>
            <a:ext cx="3355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14C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can't become bool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685800" y="3840480"/>
            <a:ext cx="5257800" cy="1874520"/>
          </a:xfrm>
          <a:prstGeom prst="roundRect">
            <a:avLst>
              <a:gd name="adj" fmla="val 2439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68680" y="39776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9 · WELL-TYPEDNESS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868680" y="427939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 ⊢ e : T</a:t>
            </a:r>
            <a:pPr indent="0" marL="0">
              <a:buNone/>
            </a:pPr>
            <a:r>
              <a:rPr lang="en-US" sz="1250" dirty="0">
                <a:solidFill>
                  <a:srgbClr val="8A9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in context m, expression e has type T</a:t>
            </a:r>
            <a:endParaRPr lang="en-US" sz="1250" dirty="0"/>
          </a:p>
        </p:txBody>
      </p:sp>
      <p:sp>
        <p:nvSpPr>
          <p:cNvPr id="52" name="Text 50"/>
          <p:cNvSpPr/>
          <p:nvPr/>
        </p:nvSpPr>
        <p:spPr>
          <a:xfrm>
            <a:off x="1234440" y="468172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7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e0 : bool      e1 : T      e2 : 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1234440" y="4974336"/>
            <a:ext cx="3383280" cy="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17720" y="48554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[t-if]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1234440" y="501091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7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(e0) e1 else e2  :  T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868680" y="53492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checker implements this — and completes the operators the YAS Haskell left as “TODO”.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6309360" y="20116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9C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Definite assignment</a:t>
            </a:r>
            <a:endParaRPr lang="en-US" sz="1700" dirty="0"/>
          </a:p>
        </p:txBody>
      </p:sp>
      <p:sp>
        <p:nvSpPr>
          <p:cNvPr id="58" name="Text 56"/>
          <p:cNvSpPr/>
          <p:nvPr/>
        </p:nvSpPr>
        <p:spPr>
          <a:xfrm>
            <a:off x="6327648" y="237744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read is safe only if the variable is assigned on every path. An if needs both branches; a while body may run zero times. (A data-flow pass — beyond Ch. 9.)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6309360" y="3200400"/>
            <a:ext cx="5212080" cy="1874520"/>
          </a:xfrm>
          <a:prstGeom prst="roundRect">
            <a:avLst>
              <a:gd name="adj" fmla="val 2439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451092" y="3342132"/>
            <a:ext cx="82296" cy="82296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61" name="Shape 59"/>
          <p:cNvSpPr/>
          <p:nvPr/>
        </p:nvSpPr>
        <p:spPr>
          <a:xfrm>
            <a:off x="6579108" y="3342132"/>
            <a:ext cx="82296" cy="82296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62" name="Shape 60"/>
          <p:cNvSpPr/>
          <p:nvPr/>
        </p:nvSpPr>
        <p:spPr>
          <a:xfrm>
            <a:off x="6707124" y="3342132"/>
            <a:ext cx="82296" cy="82296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63" name="Text 61"/>
          <p:cNvSpPr/>
          <p:nvPr/>
        </p:nvSpPr>
        <p:spPr>
          <a:xfrm>
            <a:off x="6912864" y="325526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A9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flow.bipl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6437376" y="3602736"/>
            <a:ext cx="4956048" cy="0"/>
          </a:xfrm>
          <a:prstGeom prst="line">
            <a:avLst/>
          </a:prstGeom>
          <a:noFill/>
          <a:ln w="9525">
            <a:solidFill>
              <a:srgbClr val="2C333D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336792" y="3621024"/>
            <a:ext cx="420624" cy="1399032"/>
          </a:xfrm>
          <a:prstGeom prst="rect">
            <a:avLst/>
          </a:prstGeom>
          <a:solidFill>
            <a:srgbClr val="161A20"/>
          </a:solidFill>
          <a:ln/>
        </p:spPr>
      </p:sp>
      <p:sp>
        <p:nvSpPr>
          <p:cNvPr id="66" name="Text 64"/>
          <p:cNvSpPr/>
          <p:nvPr/>
        </p:nvSpPr>
        <p:spPr>
          <a:xfrm>
            <a:off x="6336792" y="3730752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6894576" y="3730752"/>
            <a:ext cx="44256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(c) y = </a:t>
            </a:r>
            <a:pPr algn="l" indent="0" marL="0">
              <a:buNone/>
            </a:pPr>
            <a:r>
              <a:rPr lang="en-US" sz="13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50" dirty="0"/>
          </a:p>
        </p:txBody>
      </p:sp>
      <p:sp>
        <p:nvSpPr>
          <p:cNvPr id="68" name="Text 66"/>
          <p:cNvSpPr/>
          <p:nvPr/>
        </p:nvSpPr>
        <p:spPr>
          <a:xfrm>
            <a:off x="6336792" y="3995928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</p:txBody>
      </p:sp>
      <p:sp>
        <p:nvSpPr>
          <p:cNvPr id="69" name="Text 67"/>
          <p:cNvSpPr/>
          <p:nvPr/>
        </p:nvSpPr>
        <p:spPr>
          <a:xfrm>
            <a:off x="6894576" y="3995928"/>
            <a:ext cx="44256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 = y;</a:t>
            </a:r>
            <a:endParaRPr lang="en-US" sz="1350" dirty="0"/>
          </a:p>
        </p:txBody>
      </p:sp>
      <p:sp>
        <p:nvSpPr>
          <p:cNvPr id="70" name="Text 68"/>
          <p:cNvSpPr/>
          <p:nvPr/>
        </p:nvSpPr>
        <p:spPr>
          <a:xfrm>
            <a:off x="6336792" y="4261104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6894576" y="4261104"/>
            <a:ext cx="44256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350" dirty="0"/>
          </a:p>
        </p:txBody>
      </p:sp>
      <p:sp>
        <p:nvSpPr>
          <p:cNvPr id="72" name="Text 70"/>
          <p:cNvSpPr/>
          <p:nvPr/>
        </p:nvSpPr>
        <p:spPr>
          <a:xfrm>
            <a:off x="6336792" y="4526280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6894576" y="4526280"/>
            <a:ext cx="44256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(c) v = </a:t>
            </a:r>
            <a:pPr algn="l" indent="0" marL="0">
              <a:buNone/>
            </a:pPr>
            <a:r>
              <a:rPr lang="en-US" sz="13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50" dirty="0"/>
          </a:p>
        </p:txBody>
      </p:sp>
      <p:sp>
        <p:nvSpPr>
          <p:cNvPr id="74" name="Text 72"/>
          <p:cNvSpPr/>
          <p:nvPr/>
        </p:nvSpPr>
        <p:spPr>
          <a:xfrm>
            <a:off x="6336792" y="4791456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6894576" y="4791456"/>
            <a:ext cx="44256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 = v;</a:t>
            </a:r>
            <a:endParaRPr lang="en-US" sz="1350" dirty="0"/>
          </a:p>
        </p:txBody>
      </p:sp>
      <p:sp>
        <p:nvSpPr>
          <p:cNvPr id="76" name="Shape 74"/>
          <p:cNvSpPr/>
          <p:nvPr/>
        </p:nvSpPr>
        <p:spPr>
          <a:xfrm>
            <a:off x="7306056" y="4181094"/>
            <a:ext cx="25603" cy="21084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7331659" y="4169396"/>
            <a:ext cx="25603" cy="32782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7357262" y="4166500"/>
            <a:ext cx="25603" cy="2897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7382866" y="4166500"/>
            <a:ext cx="25603" cy="34389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717536" y="3995928"/>
            <a:ext cx="367588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E5B5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maybe uninitialized</a:t>
            </a:r>
            <a:endParaRPr lang="en-US" sz="1150" dirty="0"/>
          </a:p>
        </p:txBody>
      </p:sp>
      <p:sp>
        <p:nvSpPr>
          <p:cNvPr id="81" name="Shape 79"/>
          <p:cNvSpPr/>
          <p:nvPr/>
        </p:nvSpPr>
        <p:spPr>
          <a:xfrm>
            <a:off x="7306056" y="4976622"/>
            <a:ext cx="25603" cy="21084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7331659" y="4964924"/>
            <a:ext cx="25603" cy="32782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7357262" y="4962028"/>
            <a:ext cx="25603" cy="2897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382866" y="4962028"/>
            <a:ext cx="25603" cy="34389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7717536" y="4791456"/>
            <a:ext cx="367588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E5B5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maybe uninitialized</a:t>
            </a:r>
            <a:endParaRPr lang="en-US" sz="1150" dirty="0"/>
          </a:p>
        </p:txBody>
      </p:sp>
      <p:sp>
        <p:nvSpPr>
          <p:cNvPr id="86" name="Text 84"/>
          <p:cNvSpPr/>
          <p:nvPr/>
        </p:nvSpPr>
        <p:spPr>
          <a:xfrm>
            <a:off x="6309360" y="521208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result, every feature.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Hover, definition, rename, completion and the outline are all just queries on this.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every unassigned read is a bug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85800" y="117043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BIPL reads its inputs from the store. So a naive “read-before-write = error” rule would flag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factorialV1.bipl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an official sample — as broken. </a:t>
            </a:r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language would reject its own textbook.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85800" y="2240280"/>
            <a:ext cx="7680960" cy="2788920"/>
          </a:xfrm>
          <a:prstGeom prst="roundRect">
            <a:avLst>
              <a:gd name="adj" fmla="val 1639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3865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22960" y="2752344"/>
            <a:ext cx="7406640" cy="0"/>
          </a:xfrm>
          <a:prstGeom prst="line">
            <a:avLst/>
          </a:prstGeom>
          <a:noFill/>
          <a:ln w="9525">
            <a:solidFill>
              <a:srgbClr val="2C33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41832" y="2953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14C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✖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44168" y="295351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4C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788920" y="295351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type-error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834640" y="3227832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conditions must be boolean; a variable can't change type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41832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5B5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44168" y="36118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5B5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Warning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788920" y="3611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maybe-uninitialized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834640" y="38862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assigned somewhere, but not on every path to this read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418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FA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ⓘ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344168" y="427024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A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Information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788920" y="42702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input-variable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834640" y="454456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assigned anywhere → a program input; this is fine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686800" y="25146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12/12</a:t>
            </a:r>
            <a:endParaRPr lang="en-US" sz="6600" dirty="0"/>
          </a:p>
        </p:txBody>
      </p:sp>
      <p:sp>
        <p:nvSpPr>
          <p:cNvPr id="20" name="Text 18"/>
          <p:cNvSpPr/>
          <p:nvPr/>
        </p:nvSpPr>
        <p:spPr>
          <a:xfrm>
            <a:off x="8686800" y="35204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YAS samples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 with zero errors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686800" y="43434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and a test locks it in,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it can never regress.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5800" y="5257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Respecting the language's own semantics — instead of imposing a naive rule — is what makes the server “interesting.”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— in action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85800" y="1234440"/>
            <a:ext cx="7406640" cy="3063240"/>
          </a:xfrm>
          <a:prstGeom prst="roundRect">
            <a:avLst>
              <a:gd name="adj" fmla="val 1493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" y="1376172"/>
            <a:ext cx="82296" cy="82296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5" name="Shape 3"/>
          <p:cNvSpPr/>
          <p:nvPr/>
        </p:nvSpPr>
        <p:spPr>
          <a:xfrm>
            <a:off x="955548" y="1376172"/>
            <a:ext cx="82296" cy="82296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6" name="Shape 4"/>
          <p:cNvSpPr/>
          <p:nvPr/>
        </p:nvSpPr>
        <p:spPr>
          <a:xfrm>
            <a:off x="1083564" y="1376172"/>
            <a:ext cx="82296" cy="82296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7" name="Text 5"/>
          <p:cNvSpPr/>
          <p:nvPr/>
        </p:nvSpPr>
        <p:spPr>
          <a:xfrm>
            <a:off x="1289304" y="1289304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A9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bad.bipl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813816" y="1636776"/>
            <a:ext cx="7150608" cy="0"/>
          </a:xfrm>
          <a:prstGeom prst="line">
            <a:avLst/>
          </a:prstGeom>
          <a:noFill/>
          <a:ln w="9525">
            <a:solidFill>
              <a:srgbClr val="2C33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3232" y="1655064"/>
            <a:ext cx="420624" cy="2587752"/>
          </a:xfrm>
          <a:prstGeom prst="rect">
            <a:avLst/>
          </a:prstGeom>
          <a:solidFill>
            <a:srgbClr val="161A20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1764792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271016" y="1764792"/>
            <a:ext cx="6620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13232" y="2057400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271016" y="2057400"/>
            <a:ext cx="6620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x = </a:t>
            </a:r>
            <a:pPr algn="l" indent="0" marL="0">
              <a:buNone/>
            </a:pPr>
            <a:r>
              <a:rPr lang="en-US" sz="13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13232" y="2350008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271016" y="2350008"/>
            <a:ext cx="6620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algn="l" indent="0" marL="0">
              <a:buNone/>
            </a:pPr>
            <a:r>
              <a:rPr lang="en-US" sz="13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(x) y = </a:t>
            </a:r>
            <a:pPr algn="l" indent="0" marL="0">
              <a:buNone/>
            </a:pPr>
            <a:r>
              <a:rPr lang="en-US" sz="13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13232" y="2642616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271016" y="2642616"/>
            <a:ext cx="6620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z = y 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buNone/>
            </a:pPr>
            <a:r>
              <a:rPr lang="en-US" sz="13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13232" y="2935224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271016" y="2935224"/>
            <a:ext cx="6620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 = (</a:t>
            </a:r>
            <a:pPr algn="l" indent="0" marL="0">
              <a:buNone/>
            </a:pPr>
            <a:r>
              <a:rPr lang="en-US" sz="13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buNone/>
            </a:pPr>
            <a:r>
              <a:rPr lang="en-US" sz="13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buNone/>
            </a:pPr>
            <a:r>
              <a:rPr lang="en-US" sz="13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13232" y="3227832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271016" y="3227832"/>
            <a:ext cx="6620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1888236" y="2535174"/>
            <a:ext cx="25603" cy="21084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1913839" y="2523476"/>
            <a:ext cx="25603" cy="32782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1939442" y="2520580"/>
            <a:ext cx="25603" cy="2897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65046" y="2520580"/>
            <a:ext cx="25603" cy="34389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019806" y="2350008"/>
            <a:ext cx="49446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F14C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condition must be boolean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1888236" y="2827782"/>
            <a:ext cx="25603" cy="21084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1913839" y="2816084"/>
            <a:ext cx="25603" cy="32782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1939442" y="2813188"/>
            <a:ext cx="25603" cy="2897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965046" y="2813188"/>
            <a:ext cx="25603" cy="34389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11196" y="2642616"/>
            <a:ext cx="52532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E5B5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maybe uninitialized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1888236" y="3120390"/>
            <a:ext cx="25603" cy="21084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1913839" y="3108692"/>
            <a:ext cx="25603" cy="32782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1939442" y="3105796"/>
            <a:ext cx="25603" cy="2897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965046" y="3105796"/>
            <a:ext cx="25603" cy="34389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1990649" y="3124002"/>
            <a:ext cx="25603" cy="16183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2016252" y="3098591"/>
            <a:ext cx="25603" cy="2541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041855" y="3098591"/>
            <a:ext cx="25603" cy="3028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67458" y="3128872"/>
            <a:ext cx="25603" cy="861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2093062" y="3102425"/>
            <a:ext cx="25603" cy="35058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118665" y="3102425"/>
            <a:ext cx="25603" cy="10839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44268" y="3113264"/>
            <a:ext cx="25603" cy="29044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2169871" y="3115355"/>
            <a:ext cx="25603" cy="26953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2195474" y="3101265"/>
            <a:ext cx="25603" cy="14090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221078" y="3101265"/>
            <a:ext cx="25603" cy="3477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2246681" y="3130835"/>
            <a:ext cx="25603" cy="520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2272284" y="3098949"/>
            <a:ext cx="25603" cy="31886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297887" y="3098949"/>
            <a:ext cx="25603" cy="2289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323490" y="3121840"/>
            <a:ext cx="25603" cy="19185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2349094" y="3107491"/>
            <a:ext cx="25603" cy="33535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2374697" y="3106911"/>
            <a:ext cx="25603" cy="580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400300" y="3106911"/>
            <a:ext cx="25603" cy="33857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2425903" y="3122564"/>
            <a:ext cx="25603" cy="18204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2451506" y="3098806"/>
            <a:ext cx="25603" cy="23757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477110" y="3098806"/>
            <a:ext cx="25603" cy="31385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502713" y="3130191"/>
            <a:ext cx="25603" cy="6345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2528316" y="3101631"/>
            <a:ext cx="25603" cy="34905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553919" y="3101631"/>
            <a:ext cx="25603" cy="1302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579522" y="3114652"/>
            <a:ext cx="25603" cy="2768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28416" y="2935224"/>
            <a:ext cx="4636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F14C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'+' expects integers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685800" y="4434840"/>
            <a:ext cx="7406640" cy="502920"/>
          </a:xfrm>
          <a:prstGeom prst="roundRect">
            <a:avLst>
              <a:gd name="adj" fmla="val 7273"/>
            </a:avLst>
          </a:prstGeom>
          <a:solidFill>
            <a:srgbClr val="20262F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14400" y="44348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PROBLEMS   </a:t>
            </a:r>
            <a:pPr indent="0" marL="0">
              <a:buNone/>
            </a:pPr>
            <a:r>
              <a:rPr lang="en-US" sz="1300" dirty="0">
                <a:solidFill>
                  <a:srgbClr val="F14C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✖ 3 errors    </a:t>
            </a:r>
            <a:pPr indent="0" marL="0">
              <a:buNone/>
            </a:pPr>
            <a:r>
              <a:rPr lang="en-US" sz="1300" dirty="0">
                <a:solidFill>
                  <a:srgbClr val="E5B5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2 warnings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8366760" y="1280160"/>
            <a:ext cx="384048" cy="384048"/>
          </a:xfrm>
          <a:prstGeom prst="ellipse">
            <a:avLst/>
          </a:prstGeom>
          <a:solidFill>
            <a:srgbClr val="20262F"/>
          </a:solidFill>
          <a:ln w="12700">
            <a:solidFill>
              <a:srgbClr val="4EC9B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36676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5" name="Text 63"/>
          <p:cNvSpPr/>
          <p:nvPr/>
        </p:nvSpPr>
        <p:spPr>
          <a:xfrm>
            <a:off x="8869680" y="123444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good.bipl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input hints; hover shows types inferred from use</a:t>
            </a:r>
            <a:endParaRPr lang="en-US" sz="1350" dirty="0"/>
          </a:p>
        </p:txBody>
      </p:sp>
      <p:sp>
        <p:nvSpPr>
          <p:cNvPr id="66" name="Shape 64"/>
          <p:cNvSpPr/>
          <p:nvPr/>
        </p:nvSpPr>
        <p:spPr>
          <a:xfrm>
            <a:off x="8366760" y="2249424"/>
            <a:ext cx="384048" cy="384048"/>
          </a:xfrm>
          <a:prstGeom prst="ellipse">
            <a:avLst/>
          </a:prstGeom>
          <a:solidFill>
            <a:srgbClr val="20262F"/>
          </a:solidFill>
          <a:ln w="12700">
            <a:solidFill>
              <a:srgbClr val="4EC9B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366760" y="2249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68" name="Text 66"/>
          <p:cNvSpPr/>
          <p:nvPr/>
        </p:nvSpPr>
        <p:spPr>
          <a:xfrm>
            <a:off x="8869680" y="2203704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bad.bipl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type errors + 2 data-flow warnings, live</a:t>
            </a:r>
            <a:endParaRPr lang="en-US" sz="1350" dirty="0"/>
          </a:p>
        </p:txBody>
      </p:sp>
      <p:sp>
        <p:nvSpPr>
          <p:cNvPr id="69" name="Shape 67"/>
          <p:cNvSpPr/>
          <p:nvPr/>
        </p:nvSpPr>
        <p:spPr>
          <a:xfrm>
            <a:off x="8366760" y="3218688"/>
            <a:ext cx="384048" cy="384048"/>
          </a:xfrm>
          <a:prstGeom prst="ellipse">
            <a:avLst/>
          </a:prstGeom>
          <a:solidFill>
            <a:srgbClr val="20262F"/>
          </a:solidFill>
          <a:ln w="12700">
            <a:solidFill>
              <a:srgbClr val="4EC9B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366760" y="3218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71" name="Text 69"/>
          <p:cNvSpPr/>
          <p:nvPr/>
        </p:nvSpPr>
        <p:spPr>
          <a:xfrm>
            <a:off x="8869680" y="3172968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Navigate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hover · go-to-definition · find references</a:t>
            </a:r>
            <a:endParaRPr lang="en-US" sz="1350" dirty="0"/>
          </a:p>
        </p:txBody>
      </p:sp>
      <p:sp>
        <p:nvSpPr>
          <p:cNvPr id="72" name="Shape 70"/>
          <p:cNvSpPr/>
          <p:nvPr/>
        </p:nvSpPr>
        <p:spPr>
          <a:xfrm>
            <a:off x="8366760" y="4187952"/>
            <a:ext cx="384048" cy="384048"/>
          </a:xfrm>
          <a:prstGeom prst="ellipse">
            <a:avLst/>
          </a:prstGeom>
          <a:solidFill>
            <a:srgbClr val="20262F"/>
          </a:solidFill>
          <a:ln w="12700">
            <a:solidFill>
              <a:srgbClr val="4EC9B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8366760" y="4187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74" name="Text 72"/>
          <p:cNvSpPr/>
          <p:nvPr/>
        </p:nvSpPr>
        <p:spPr>
          <a:xfrm>
            <a:off x="8869680" y="414223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Refactor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F2 rename (rejects invalid names) · quick fix</a:t>
            </a:r>
            <a:endParaRPr lang="en-US" sz="1350" dirty="0"/>
          </a:p>
        </p:txBody>
      </p:sp>
      <p:sp>
        <p:nvSpPr>
          <p:cNvPr id="75" name="Shape 73"/>
          <p:cNvSpPr/>
          <p:nvPr/>
        </p:nvSpPr>
        <p:spPr>
          <a:xfrm>
            <a:off x="8366760" y="5157216"/>
            <a:ext cx="384048" cy="384048"/>
          </a:xfrm>
          <a:prstGeom prst="ellipse">
            <a:avLst/>
          </a:prstGeom>
          <a:solidFill>
            <a:srgbClr val="20262F"/>
          </a:solidFill>
          <a:ln w="12700">
            <a:solidFill>
              <a:srgbClr val="4EC9B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8366760" y="51572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77" name="Text 75"/>
          <p:cNvSpPr/>
          <p:nvPr/>
        </p:nvSpPr>
        <p:spPr>
          <a:xfrm>
            <a:off x="8869680" y="5111496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typing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factorial, watch diagnostics move as you type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Challenges &amp; loose ends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04088" y="109728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had to solve — and what I deliberately left open.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Solved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2221992"/>
            <a:ext cx="0" cy="658368"/>
          </a:xfrm>
          <a:prstGeom prst="line">
            <a:avLst/>
          </a:prstGeom>
          <a:noFill/>
          <a:ln w="31750">
            <a:solidFill>
              <a:srgbClr val="4EC9B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19456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 vs. bugs.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naive rule broke the samples → three severities + an “assigned-anywhere” pre-pass.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13232" y="3136392"/>
            <a:ext cx="0" cy="658368"/>
          </a:xfrm>
          <a:prstGeom prst="line">
            <a:avLst/>
          </a:prstGeom>
          <a:noFill/>
          <a:ln w="31750">
            <a:solidFill>
              <a:srgbClr val="4EC9B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10896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 without declarations.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Demand-driven inference: a constrained use (i &lt;= x) pins the type.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13232" y="4050792"/>
            <a:ext cx="0" cy="658368"/>
          </a:xfrm>
          <a:prstGeom prst="line">
            <a:avLst/>
          </a:prstGeom>
          <a:noFill/>
          <a:ln w="31750">
            <a:solidFill>
              <a:srgbClr val="4EC9B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402336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Completed the checker.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YAS TypeChecker.hs ended at “TODO”; I implemented the full operator set.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13232" y="4965192"/>
            <a:ext cx="0" cy="658368"/>
          </a:xfrm>
          <a:prstGeom prst="line">
            <a:avLst/>
          </a:prstGeom>
          <a:noFill/>
          <a:ln w="31750">
            <a:solidFill>
              <a:srgbClr val="4EC9B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93776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Stayed useful while broken.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recovery: skip to the next ; or } so half-typed code still analyses.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309360" y="16916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5B5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 Left open (on purpose)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336792" y="2221992"/>
            <a:ext cx="0" cy="914400"/>
          </a:xfrm>
          <a:prstGeom prst="line">
            <a:avLst/>
          </a:prstGeom>
          <a:noFill/>
          <a:ln w="31750">
            <a:solidFill>
              <a:srgbClr val="E5B56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37960" y="2194560"/>
            <a:ext cx="4983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full type unification.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variable used only neutrally (r = x) stays unknown — I infer from constrained uses only.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336792" y="3429000"/>
            <a:ext cx="0" cy="914400"/>
          </a:xfrm>
          <a:prstGeom prst="line">
            <a:avLst/>
          </a:prstGeom>
          <a:noFill/>
          <a:ln w="31750">
            <a:solidFill>
              <a:srgbClr val="E5B56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37960" y="3401568"/>
            <a:ext cx="4983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Re-analysis per keystroke.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Whole-document, not incremental. Linear and instant at BIPL's scale; wouldn't scale to big files.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336792" y="4636008"/>
            <a:ext cx="0" cy="914400"/>
          </a:xfrm>
          <a:prstGeom prst="line">
            <a:avLst/>
          </a:prstGeom>
          <a:noFill/>
          <a:ln w="31750">
            <a:solidFill>
              <a:srgbClr val="E5B56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4608576"/>
            <a:ext cx="4983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Fidelity vs. usability.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Relaxed the Haskell checker's both-branches-equal rule, and accept the conventional identifier shape (a superset of ls.term).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400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things to remember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85800" y="173736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463040" y="1773936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LSP decouples smartness from the editor.
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Python analysis serves any LSP editor; the VS Code client is 30 lines.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297180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463040" y="3008376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 language is not trivial tooling.
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statements still forced type inference without declarations and branch-sensitive data flow.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85800" y="420624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1463040" y="4242816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language's own samples were the spec.
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told me inputs aren't errors — and now they guard that decision as tests. This is the FSML lecture demo, extended to a harder language.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85800" y="5806440"/>
            <a:ext cx="10835640" cy="0"/>
          </a:xfrm>
          <a:prstGeom prst="line">
            <a:avLst/>
          </a:prstGeom>
          <a:noFill/>
          <a:ln w="9525">
            <a:solidFill>
              <a:srgbClr val="2C33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5989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· tests · demo files   </a:t>
            </a:r>
            <a:pPr indent="0" marL="0">
              <a:buNone/>
            </a:pPr>
            <a:r>
              <a:rPr lang="en-US" sz="14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github.com/VivekanandaReddy3/sle-bipl-lsp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2026-07-12T17:59:46Z</dcterms:created>
  <dcterms:modified xsi:type="dcterms:W3CDTF">2026-07-12T17:59:46Z</dcterms:modified>
</cp:coreProperties>
</file>